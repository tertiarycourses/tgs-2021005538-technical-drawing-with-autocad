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rtiary-infote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40080"/>
            <a:ext cx="960120" cy="9601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9646920" y="658368"/>
            <a:ext cx="1828800" cy="9144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46920" y="786384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AutoCAD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46920" y="120700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AUTODESK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031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COURSE SLIDES  ·  WSQ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06040"/>
            <a:ext cx="109728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WSQ Technical Drawing with AutoCAD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3977639"/>
            <a:ext cx="219456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251960"/>
            <a:ext cx="10972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WSQ Course Code: TGS-2021005538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Skills Framework TSC: Technical Drawing (DSN-TDR-3005-1.11)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Conducted by Tertiary Infotech Academy Pte Ltd  ·  UEN 201200696W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943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Version v12  ·  18 August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263640"/>
            <a:ext cx="10972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Ltd. All rights reserved.  ·  www.tertiarycourses.com.sg</a:t>
            </a:r>
          </a:p>
        </p:txBody>
      </p:sp>
    </p:spTree>
  </p:cSld>
  <p:clrMapOvr>
    <a:masterClrMapping/>
  </p:clrMapOvr>
  <p:transition spd="fast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Welcome &amp; Housekeeping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It is mandatory to take the AM, PM and Assessment digital attendance for WSQ-funded courses.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The trainer/administrator displays the digital attendance QR code from the SSG portal.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Scan the QR code with your mobile phone camera and submit your attendance.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 minimum of 75% attendance is required to be eligible for assessment and funding.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YOUR TRAINER ·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Your Trainer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General Trainer template —
to be completed by the trainer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NAME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52984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52984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52984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TITLE / DESIGNATION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327660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3276600"/>
            <a:ext cx="91440" cy="563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327660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QUALIFICATIONS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402336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4023360"/>
            <a:ext cx="91440" cy="5638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402336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AREAS OF EXPERTISE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477012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80560" y="477012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73168" y="477012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TRAINING &amp; INDUSTRY EXPERIENCE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55168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80560" y="551688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73168" y="55168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CONTACT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Dr Alfred 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Principal Trainer
Tertiary Infotech Academy Pte Ltd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9372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ROLE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Principal Trainer, Tertiary Infotech Academy Pte Ltd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90322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903220"/>
            <a:ext cx="91440" cy="9372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90322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SPECIALISATION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CAD, technical drawing and engineering design — AutoCAD, Revit and Fusion 360.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402336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4023360"/>
            <a:ext cx="91440" cy="9372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402336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DELIVERS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WSQ courses on technical drawing, design and emerging technologies.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514350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5143500"/>
            <a:ext cx="91440" cy="9372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514350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FOUNDER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Founder and lead instructor at Tertiary Infotech / Tertiary Courses.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ICE-BREAKER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Your name and organisation / role.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Your experience with CAD, drafting or design (if any).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What you want to be able to draw or document after this course.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  <p:transition spd="fast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Set your mobile phone to silent mode.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Participate actively — no question is stupid.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Mutual respect: agree to disagree.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One conversation at one time.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Be punctual; return from breaks on time.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75% attendance is required.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  <p:transition spd="fast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PORTAL · LMS/TMS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Download Course Material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394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Log in to the LMS/TMS portal with the account created at registration.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Portal: https://lms-tms.tertiaryinfotech.com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Open your course → Course Materials to download the slides and Learner Guide.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Keep them handy — the final assessment is open book (slides, Learner Guide and approved materials only).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783080"/>
            <a:ext cx="502920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82904" y="1874520"/>
            <a:ext cx="3464991" cy="416051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016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8624" y="1920240"/>
            <a:ext cx="3373551" cy="40690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  <p:transition spd="fast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Lesson Plan — 2 Days, 8 hours/day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Day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Day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Day 1 — AutoCAD Foundations, Drawing &amp; Modifying Objects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Digital attendance (AM) · introductions · outcomes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1: Getting Started with AutoCAD (Lab 1)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2: Technical Drawing with AutoCAD (Labs 2–5)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3: Modifying Objects (Labs 6–8)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Day 2 — Organizing Objects, Design Documentation &amp; Assessment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4: Organizing Objects (Labs 9–12)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5: Design Documentation (Labs 13–16)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Course feedback &amp; TRAQOM survey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Final Assessment: WA (SAQ) + Practical Performance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Daily timing: 9:30am–6:30pm · 1-hour lunch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  <p:transition spd="fast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WSQ ALIGNMENT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Skills Framework — TSC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TSC Title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Technical Drawing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TSC Code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DSN-TDR-3005-1.11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Framework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Skills Framework for Design — Technical Drawing, Proficiency Level 3.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Coverage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Five abilities (A1–A5) and five knowledge areas (K1–K5) mapped to the five course topics.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  <p:transition spd="fast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SKILLS FRAMEWORK TSC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TSC Abilities &amp; Knowledge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Abilities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Knowledge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A1: Read and visualise technical drawings according to briefs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A2: Produce two-dimensional (2D) and three-dimensional (3D) technical drawings based on input from stakeholders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A3: Create part lists for new design to facilitate technical drawing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A4: Oversee the development and construction of new designs' prototypes, in collaboration with organisation's production function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A5: Produce drawings and specifications, that conform to the requirements of relevant standards for submission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K1: Symbols, standards and conventions used in technical drawings within one's field and region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K2: Methods of technical drawing by instruments and computer-aided design (CAD) systems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K3: Types of technical drawings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K4: Fundamentals of drafting design documentation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K5: Concepts of information technology (IT) to facilitate the usage of technical drawing software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  <p:transition spd="fast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ACHIEVE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LO1 — Read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Read and visualize AutoCAD technical drawings.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LO2 — Produce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Produce 2D and 3D technical drawings using AutoCAD.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LO3 — Part lists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Create part lists using AutoCAD blocks, attributes and tables.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LO4 — Document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Create AutoCAD design documentation — text, dimensions, annotation.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LO5 — Specify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Produce design specification: layouts, viewports and plotted sheets.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  <p:transition spd="fast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FIVE TOPICS · 16 HANDS-ON 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Course Outline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Day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Day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Topic 1: Getting Started with AutoCAD (A1, K1)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AutoCAD user interface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Workspace settings, navigation and units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Topic 2: Technical Drawing with AutoCAD (A2, K2)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Basic AutoCAD operations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Drawing objects and isometric drawing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Topic 3: Modifying Objects (A3, K3)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Working with modifiers: move, copy, trim, arrays…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Topic 4: Organizing Objects (A4, K4)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Object properties and layers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Blocks, attributes and reusable content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Topic 5: Design Documentation (A5, K5)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Text, dimensions and part-list tables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Layouts, printing and outputs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Annotative techniques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  <p:transition spd="fast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ASSESSMENT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Place phones and other materials under the table or on the floor.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No photos or recording of assessment scripts.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No discussion during the assessment.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Use a black/blue pen for hard-copy assessments.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No liquid paper / correction tape.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Scripts are collected when time is up.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  <p:transition spd="fast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FINAL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Final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Written Assessment (WA) — Short-Answer Questions (SAQ), 1 hour, open book.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Practical Performance (PP) — produce a dimensioned AutoCAD technical drawing, 1.5 hours, open book.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Format: Open Book — slides, Learner Guide and approved materials only.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 minimum of 75% attendance (SSG Digital Attendance record) and a 'Competent' assessment result are required for funding.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An appeal process is available if required.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  <p:transition spd="fast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TRAQOM survey — scan the QR code on the LMS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Assessment digital attendance — scan the SSG QR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Sit WA (SAQ) then Practical Performance — open 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Submit your answers and DWG file on the LMS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Sign the Assessment Summary 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  <p:transition spd="fast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CORE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Technical Drawing &amp; CAD Fundamentals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  <p:transition spd="fast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K1 · K3 — STANDARDS, CONVENTIONS &amp; 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is a Technical Drawing?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Precise communication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technical drawing communicates a design's exact geometry, sizes and finishes for manufacture or construction.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Standards-based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Symbols, line conventions, projections and dimensioning follow standards (ISO/ANSI) so any reader interprets it the same way.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Types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Orthographic multi-view, isometric/pictorial, section, detail and assembly drawings — each answers a different question.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CAD advantage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AutoCAD makes drawings precise, editable, layered, reusable and printable at any scale.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  <p:transition spd="fast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Technical Drawing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Set up &amp; draw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Template, units and limits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Precision aids: snap, ortho, polar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Draw geometry at 1:1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Organise &amp; refine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Layers, properties, blocks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Modify: trim, fillet, array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Attributes for part data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Document &amp; publish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Dimensions, text and tables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Layouts with scaled viewports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Plot to PDF for submission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  <p:transition spd="fast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Getting Started with AutoCAD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AutoCAD User Interface · Workspace Settings · Navigation · Units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  <p:transition spd="fast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SKILLS FRAMEWORK A1 · K1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Getting Started with AutoCAD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User interface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Application menu, Quick Access Toolbar, ribbon tabs and panels, drawing area, command window and status bar.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Workspaces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Drafting &amp; Annotation, 3D Basics and 3D Modeling — task-oriented sets of ribbons, menus and palettes.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Model vs paper space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Design at 1:1 in model space; compose scaled drawing sheets in paper-space layouts.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Precision aids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Grid and snap, ortho mode, polar tracking, object snaps and dynamic input keep every pick exact.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Navigation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Zoom, pan, ViewCube and the wheel mouse move you around a drawing without changing it.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Units and limits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UNITS sets the length/angle format and precision; LIMITS frames the working area of the drawing.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  <p:transition spd="fast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USER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AutoCAD User Interface — Application Menu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394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The Application button opens the file-level menu: create, open and save drawings.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Audit, recover and purge a drawing file when it needs repair or cleanup.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Print or publish a file, and access the Options dialog for system settings.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Recent documents are listed for quick reopening.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783080"/>
            <a:ext cx="502920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92240" y="2572403"/>
            <a:ext cx="4846320" cy="276475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018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618123"/>
            <a:ext cx="4754880" cy="267331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  <p:transition spd="fast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USER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Starting a New Drawing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394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Start New Drawing creates a file from the default drawing template (DWT).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Metric drawings use acadiso.dwt; imperial drawings use acad.dwt.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The default template is set in the Options dialog.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Templates carry units, styles, layers and title blocks — start right, draw less.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783080"/>
            <a:ext cx="502920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92240" y="2572403"/>
            <a:ext cx="4846320" cy="276475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018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618123"/>
            <a:ext cx="4754880" cy="267331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  <p:transition spd="fast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USER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Ribbon Tabs and Panels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394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The ribbon organises tools into tabs (Home, Insert, Annotate, View, Output…).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Each tab is a set of panels — Draw, Modify, Layers, Annotation and more.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Panels expand to reveal less-used tools; pin them open while learning.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Most course commands live on the Home tab's Draw and Modify panels.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783080"/>
            <a:ext cx="502920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92240" y="2745467"/>
            <a:ext cx="4846320" cy="241862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021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791187"/>
            <a:ext cx="4754880" cy="232718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  <p:transition spd="fast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USER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Status Bar — Precision Drafting Aids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394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The status bar toggles grid, snap, ortho, polar tracking and object snap.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Ortho constrains the cursor to horizontal/vertical; Polar tracks set angles.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2D object snap picks exact endpoints, midpoints, centres and intersections.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Function keys mirror the toggles: F7 grid · F8 ortho · F9 snap · F10 polar · F3 osnap.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783080"/>
            <a:ext cx="502920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92240" y="2869043"/>
            <a:ext cx="4846320" cy="217147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022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914763"/>
            <a:ext cx="4754880" cy="208003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  <p:transition spd="fast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USER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Dynamic Input and the Command Window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394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Dynamic input places a command interface beside the cursor as you draw.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Tooltips show prompts, dimensions and coordinate entry at the crosshair.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The command window (Ctrl+9) accepts commands and shows every prompt.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Watch the prompts — AutoCAD always tells you what it expects next.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783080"/>
            <a:ext cx="502920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92240" y="3008864"/>
            <a:ext cx="4846320" cy="189183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025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3054584"/>
            <a:ext cx="4754880" cy="180039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  <p:transition spd="fast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WORKSPACE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Model Space and Paper Space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394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Model space is where you design — always draw at 1:1 real-world size.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Paper space (layouts) is where you compose scaled sheets for printing.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The UCS icon shows the origin and orientation of the coordinate system.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Switch between them with the Model and Layout tabs below the drawing area.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783080"/>
            <a:ext cx="502920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92240" y="3005633"/>
            <a:ext cx="4846320" cy="189829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026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3051353"/>
            <a:ext cx="4754880" cy="180685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  <p:transition spd="fast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WORKSPACE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Workspaces and the Quick Access Toolbar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394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Workspaces group menus, toolbars and ribbons for a task: Drafting &amp; Annotation, 3D Basics, 3D Modeling.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This course uses Drafting &amp; Annotation throughout.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The Quick Access Toolbar sits top-left: New, Open, Save, Undo, Plot.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Right-click any ribbon tool → Add to Quick Access Toolbar to customise 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783080"/>
            <a:ext cx="502920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92240" y="3800466"/>
            <a:ext cx="4846320" cy="3086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029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3846186"/>
            <a:ext cx="4754880" cy="2171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  <p:transition spd="fast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NAVIGATION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Navigation — Zoom, Pan and the Wheel Mouse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394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The navigation bar provides Pan and the full set of Zoom tools.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ZOOM (Z): Window, All, Extents, Previous, Scale, Object — know them all.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Wheel mouse: scroll to zoom, press to pan, double-click to zoom extents.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Navigation changes your view only — it never moves the geometry.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783080"/>
            <a:ext cx="502920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92240" y="3481121"/>
            <a:ext cx="4846320" cy="94731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030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3526841"/>
            <a:ext cx="4754880" cy="85587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  <p:transition spd="fast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NAVIGATION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ViewCube and 2D/3D Views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394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The ViewCube switches between standard and isometric views of the model.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Click a face, edge or corner to jump to that view; drag to orbit freely.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Set Current View as Home to return to a saved orientation.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In 2D drafting you will mostly stay on the Top view.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783080"/>
            <a:ext cx="502920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35140" y="1874520"/>
            <a:ext cx="41605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034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0860" y="1920240"/>
            <a:ext cx="4069080" cy="40690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  <p:transition spd="fast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Drawing Units and Converting Units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394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UNITS sets the length type (Decimal, Architectural, Engineering…) and precision.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Angles default to decimal degrees measured anticlockwise from east.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This course draws in millimetres with decimal units.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To convert a drawing's scale: SCALE → All → base 0,0 → factor (e.g. 25.4).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783080"/>
            <a:ext cx="502920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9370" y="1874520"/>
            <a:ext cx="3552059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036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5090" y="1920240"/>
            <a:ext cx="3460619" cy="40690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  <p:transition spd="fast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Setting Up a New Drawing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Create a new metric drawing from the ACADISO template, choose the Drafting &amp; Annotation workspace, set units and limits, then open a finished drawing and practise reading it with the zoom, pan and ViewCube navigation tools.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4023360"/>
            <a:ext cx="10698480" cy="1965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60520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You'll produce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2412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 correctly configured metric drawing (units, limits, workspace) saved as DWG, plus confident navigation of an existing technical drawing.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28523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5B6372"/>
                </a:solidFill>
                <a:latin typeface="Arial"/>
              </a:rPr>
              <a:t>Commands:  </a:t>
            </a:r>
            <a:r>
              <a:rPr sz="1150" b="0">
                <a:solidFill>
                  <a:srgbClr val="5B6372"/>
                </a:solidFill>
                <a:latin typeface="Arial"/>
              </a:rPr>
              <a:t>ACADISO template, UNITS, LIMITS, ZOOM, PAN, ViewCube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Files: labs/lab-01-setting-up-a-new-drawing/lab01-table.dwg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  <p:transition spd="fast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STEP-BY-STEP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Setting Up a New Drawing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10634472" cy="128625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91440" cy="12862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4128" y="2188464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188464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828800"/>
            <a:ext cx="6035040" cy="12862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Start AutoCAD and create a new drawing from the ISO metric template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2087880"/>
            <a:ext cx="3246120" cy="76809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29016" y="2087880"/>
            <a:ext cx="2990088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NEW → acadiso.dwt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334512"/>
            <a:ext cx="10634472" cy="128625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334512"/>
            <a:ext cx="91440" cy="12862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24128" y="369417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369417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334512"/>
            <a:ext cx="6035040" cy="12862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Switch the workspace to Drafting &amp; Annotation from the status bar gear icon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01000" y="3593592"/>
            <a:ext cx="3246120" cy="76809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29016" y="3593592"/>
            <a:ext cx="2990088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WSCURRENT → Drafting &amp; Annotation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4840224"/>
            <a:ext cx="10634472" cy="128625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4840224"/>
            <a:ext cx="91440" cy="12862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" y="5199888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4128" y="519988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4840224"/>
            <a:ext cx="6035040" cy="12862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Set decimal length units with 0.00 precision and decimal degrees for angles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01000" y="5099304"/>
            <a:ext cx="3246120" cy="76809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29016" y="5099304"/>
            <a:ext cx="2990088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UNITS → Length: Decimal, Precision 0.00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162763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5B6372"/>
                </a:solidFill>
                <a:latin typeface="Arial"/>
              </a:rPr>
              <a:t>STEPS 1–3 OF 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  <p:transition spd="fast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STEP-BY-STEP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Setting Up a New Drawing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10634472" cy="128625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91440" cy="12862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4128" y="2188464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188464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828800"/>
            <a:ext cx="6035040" cy="12862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Frame an A3-sized working area with drawing limits, then zoom to 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2087880"/>
            <a:ext cx="3246120" cy="76809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29016" y="2087880"/>
            <a:ext cx="2990088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LIMITS → 0,0 → 420,297  |  ZOOM → All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334512"/>
            <a:ext cx="10634472" cy="128625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334512"/>
            <a:ext cx="91440" cy="12862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24128" y="369417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369417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334512"/>
            <a:ext cx="6035040" cy="12862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Toggle the precision aids on the status bar: grid, snap, ortho, polar and object snap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01000" y="3593592"/>
            <a:ext cx="3246120" cy="76809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29016" y="3593592"/>
            <a:ext cx="2990088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F7 grid · F9 snap · F8 ortho · F10 polar · F3 osnap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4840224"/>
            <a:ext cx="10634472" cy="128625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4840224"/>
            <a:ext cx="91440" cy="12862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" y="5199888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4128" y="519988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4840224"/>
            <a:ext cx="6035040" cy="12862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Open lab01-table.dwg and navigate it: wheel-zoom, pan, zoom window and zoom extents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01000" y="5099304"/>
            <a:ext cx="3246120" cy="76809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29016" y="5099304"/>
            <a:ext cx="2990088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OPEN lab01-table.dwg → Z → W / Z → 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162763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5B6372"/>
                </a:solidFill>
                <a:latin typeface="Arial"/>
              </a:rPr>
              <a:t>STEPS 4–6 OF 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  <p:transition spd="fast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STEP-BY-STEP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Setting Up a New Drawing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10634472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91440" cy="42976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4128" y="369417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369417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828800"/>
            <a:ext cx="6035040" cy="4297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Identify the views, dimensions and title information in the drawing, then save your setup file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3593592"/>
            <a:ext cx="3246120" cy="76809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29016" y="3593592"/>
            <a:ext cx="2990088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SAVEAS → lab01-setup.dwg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162763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5B6372"/>
                </a:solidFill>
                <a:latin typeface="Arial"/>
              </a:rPr>
              <a:t>STEPS 7–7 OF 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  <p:transition spd="fast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Setting Up a New Drawing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Check your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You can state the drawing's units, limits and workspace; zoom to any detail of lab01-table.dwg and back to extents; and your lab01-setup.dwg opens with the settings intact.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  <p:transition spd="fast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Getting Started with AutoCAD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4370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4370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9427464" cy="4187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Lab 1 — Setting Up a New Drawing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correctly configured metric drawing (units, limits, workspace) saved as DWG, plus confident navigation of an existing technical drawing.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  <p:transition spd="fast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Technical Drawing with AutoCAD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Basic AutoCAD Operations · Drawing Objects · Isometric Drawing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  <p:transition spd="fast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SKILLS FRAMEWORK A2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Technical Drawing with AutoCAD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Lines &amp; polylines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LINE draws separate segments; PLINE creates one connected object of line and arc segments.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Circles &amp; arcs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Circles by centre/radius or diameter; arcs by combinations of start, centre, end, radius and angle.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Rectangles &amp; polygons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RECTANG builds closed rectangular polylines; POLYGON draws 3–1024-sided regular polygons.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Ellipses, splines &amp; points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Ellipses from axis endpoints; splines as smooth curves through fit points; points as snap nodes.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Construction geometry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Construction lines (XLINE) and rays give infinite reference lines for projecting views.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2D isometric drawing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ISODRAFT turns on isometric planes so a flat drawing represents a 3D projection.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  <p:transition spd="fast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DRAWING OBJECTS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Lines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394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LINE draws straight segments between picked or typed points.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Specify the first point, then each next point; every segment is a separate object.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Combine with object snaps and grid snap for exact geometry.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Coordinate entry: absolute (100,50) · relative (@50,0) · polar (@50&lt;30).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783080"/>
            <a:ext cx="502920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92240" y="3234575"/>
            <a:ext cx="4846320" cy="144040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040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3280295"/>
            <a:ext cx="4754880" cy="134896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  <p:transition spd="fast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DRAWING OBJECTS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Circles and Rectangles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394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CIRCLE: centre + radius or diameter; 2P/3P through points; TTR tangent-tangent-radius.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RECTANG creates a closed rectangular polyline from two corners.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Rectangle options add chamfered or filleted corners and a set width.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Use dimensions option (@length,width) for exact rectangle sizes.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783080"/>
            <a:ext cx="502920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92240" y="2571750"/>
            <a:ext cx="4846320" cy="27660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043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617470"/>
            <a:ext cx="4754880" cy="26746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  <p:transition spd="fast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DRAWING OBJECTS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Polygons and Ellipses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394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POLYGON draws regular polygons of 3–1024 sides.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Inscribed polygons fit inside the reference circle; circumscribed fit outside.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ELLIPSE uses two axis endpoints then the half-width of the other axis.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An elliptical arc is an ellipse with start and end angles.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783080"/>
            <a:ext cx="502920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55540" y="1874520"/>
            <a:ext cx="35197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045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1260" y="1920240"/>
            <a:ext cx="3428280" cy="40690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  <p:transition spd="fast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DRAWING OBJECTS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Arcs, Polylines and Splines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394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ARC draws by combinations of start, centre, end, radius, angle and direction.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PLINE creates one object of connected line and arc segments — switch modes as you draw.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SPLINE fits a smooth curve through or near a set of fit points.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Closed polylines are the basis for hatching, areas and 3D operations.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783080"/>
            <a:ext cx="502920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721054" y="1874520"/>
            <a:ext cx="4388692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048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774" y="1920240"/>
            <a:ext cx="4297252" cy="40690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  <p:transition spd="fast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CONSTRUCTION GEOMETRY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Points, Construction Lines and Rays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394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POINT places node objects; PDMODE and PDSIZE control how they display.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Points act as snap nodes — DIVIDE and MEASURE place them along objects.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XLINE creates infinite construction lines for projecting between views.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RAY starts at a point and extends infinitely in one direction.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783080"/>
            <a:ext cx="502920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80127" y="1874520"/>
            <a:ext cx="4470545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050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5847" y="1920240"/>
            <a:ext cx="4379105" cy="40690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  <p:transition spd="fast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ISOMETRIC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2D Isometric Drawing with ISODRAFT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394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 2D isometric drawing is a flat representation of a 3D isometric projection.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ISODRAFT switches the crosshairs to the isometric axes (30°/90°/150°).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F5 cycles the three isoplanes: Top, Right and Left.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Isocircles (ELLIPSE → Isocircle) draw round features on the active isoplane.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783080"/>
            <a:ext cx="502920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95218" y="1874520"/>
            <a:ext cx="4640364" cy="416051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077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0938" y="1920240"/>
            <a:ext cx="4548924" cy="40690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  <p:transition spd="fast">
    <p:fade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Technical Drawing with AutoCAD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Labs 2–3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Creating Lines and Coordinates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Circles, Rectangles and Polygons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Labs 4–5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Polylines, Arcs, Ellipses and Splines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2D Isometric Drawing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  <p:transition spd="fast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Creating Lines and Coordinates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63093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Draw the outline of practice drawing EX-1 using the LINE and PLINE commands with absolute, relative and polar coordinate entry, working from its dimensioned drawing sheet.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0" y="1691640"/>
            <a:ext cx="4114800" cy="4069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60920" y="2394771"/>
            <a:ext cx="4023360" cy="266281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ex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440491"/>
            <a:ext cx="3931920" cy="2571378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77240" y="4023360"/>
            <a:ext cx="6309360" cy="1965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160520"/>
            <a:ext cx="5852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You'll produce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480560"/>
            <a:ext cx="5852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The completed EX-1 profile drawn to size, matching the supplied solution DWG.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285232"/>
            <a:ext cx="5852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5B6372"/>
                </a:solidFill>
                <a:latin typeface="Arial"/>
              </a:rPr>
              <a:t>Commands:  </a:t>
            </a:r>
            <a:r>
              <a:rPr sz="1150" b="0">
                <a:solidFill>
                  <a:srgbClr val="5B6372"/>
                </a:solidFill>
                <a:latin typeface="Arial"/>
              </a:rPr>
              <a:t>LINE, PLINE, coordinate entry (@dx,dy · @dist&lt;angle), ORTHO, dynamic input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Files: labs/lab-02-creating-lines-and-coordinates/ex1.dwg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  <p:transition spd="fast">
    <p:fade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STEP-BY-STEP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Creating Lines and Coordinates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10634472" cy="128625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91440" cy="12862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4128" y="2188464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188464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828800"/>
            <a:ext cx="9326880" cy="12862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Open the EX-1 drawing sheet (ex1-drawing-sheet.pdf) and study the dimensions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334512"/>
            <a:ext cx="10634472" cy="128625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34512"/>
            <a:ext cx="91440" cy="12862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24128" y="369417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369417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334512"/>
            <a:ext cx="6035040" cy="12862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Start a new acadiso drawing and draw the first edge with absolute coordinates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1000" y="3593592"/>
            <a:ext cx="3246120" cy="76809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29016" y="3593592"/>
            <a:ext cx="2990088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L → 0,0 → 100,0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4840224"/>
            <a:ext cx="10634472" cy="128625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4840224"/>
            <a:ext cx="91440" cy="12862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24128" y="5199888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4128" y="519988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4840224"/>
            <a:ext cx="6035040" cy="12862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Continue the profile with relative coordinates for each dimensioned edge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01000" y="5099304"/>
            <a:ext cx="3246120" cy="76809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29016" y="5099304"/>
            <a:ext cx="2990088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@0,50  ·  @-30,0  ·  @20&lt;135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162763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5B6372"/>
                </a:solidFill>
                <a:latin typeface="Arial"/>
              </a:rPr>
              <a:t>STEPS 1–3 OF 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  <p:transition spd="fast">
    <p:fade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STEP-BY-STEP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Creating Lines and Coordinates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10634472" cy="128625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91440" cy="12862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4128" y="2188464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188464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828800"/>
            <a:ext cx="6035040" cy="12862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Use ortho (F8) and polar tracking (F10) for the horizontal and vertical segments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2087880"/>
            <a:ext cx="3246120" cy="76809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29016" y="2087880"/>
            <a:ext cx="2990088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F8 · F10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334512"/>
            <a:ext cx="10634472" cy="128625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334512"/>
            <a:ext cx="91440" cy="12862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24128" y="369417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369417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334512"/>
            <a:ext cx="6035040" cy="12862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Close the profile back to the start point and check it forms one closed loop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01000" y="3593592"/>
            <a:ext cx="3246120" cy="76809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29016" y="3593592"/>
            <a:ext cx="2990088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C (Close)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4840224"/>
            <a:ext cx="10634472" cy="128625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4840224"/>
            <a:ext cx="91440" cy="12862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" y="5199888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4128" y="519988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4840224"/>
            <a:ext cx="6035040" cy="12862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Compare your result against the solution file ex1.dwg, then save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01000" y="5099304"/>
            <a:ext cx="3246120" cy="76809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29016" y="5099304"/>
            <a:ext cx="2990088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OPEN ex1.dwg → SAVEAS ex1-mine.dwg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162763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5B6372"/>
                </a:solidFill>
                <a:latin typeface="Arial"/>
              </a:rPr>
              <a:t>STEPS 4–6 OF 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  <p:transition spd="fast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Creating Lines and Coordinates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Check your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Your outline closes exactly (LIST shows the final vertex at 0,0) and overlays the solution ex1.dwg with no visible deviation.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  <p:transition spd="fast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Circles, Rectangles and Polygons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63093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Complete practice drawing EX-2 by adding circles (centre-radius, diameter, 2P/3P and Tan-Tan-Radius), a rectangle with chamfered/filleted corners and inscribed/circumscribed polygons.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0" y="1691640"/>
            <a:ext cx="4114800" cy="4069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60920" y="2030262"/>
            <a:ext cx="4023360" cy="33918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ex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075982"/>
            <a:ext cx="3931920" cy="3300396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77240" y="4023360"/>
            <a:ext cx="6309360" cy="1965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160520"/>
            <a:ext cx="5852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You'll produce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480560"/>
            <a:ext cx="5852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The completed EX-2 drawing with all holes, rectangles and polygons placed to the sheet dimensions.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285232"/>
            <a:ext cx="5852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5B6372"/>
                </a:solidFill>
                <a:latin typeface="Arial"/>
              </a:rPr>
              <a:t>Commands:  </a:t>
            </a:r>
            <a:r>
              <a:rPr sz="1150" b="0">
                <a:solidFill>
                  <a:srgbClr val="5B6372"/>
                </a:solidFill>
                <a:latin typeface="Arial"/>
              </a:rPr>
              <a:t>CIRCLE (Cen-Rad, 2P, 3P, TTR), RECTANG, POLYGON, object snaps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Files: labs/lab-03-circles-rectangles-and-polygons/ex2.dwg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  <p:transition spd="fast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STEP-BY-STEP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Circles, Rectangles and Polygons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10634472" cy="128625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91440" cy="12862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4128" y="2188464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188464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828800"/>
            <a:ext cx="9326880" cy="12862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Open the EX-2 sheet (ex2-drawing-sheet.pdf) and identify each hole's centre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334512"/>
            <a:ext cx="10634472" cy="128625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34512"/>
            <a:ext cx="91440" cy="12862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24128" y="369417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369417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334512"/>
            <a:ext cx="6035040" cy="12862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Draw the main circles by centre point and radius, snapping to intersections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1000" y="3593592"/>
            <a:ext cx="3246120" cy="76809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29016" y="3593592"/>
            <a:ext cx="2990088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C → cen point → 25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4840224"/>
            <a:ext cx="10634472" cy="128625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4840224"/>
            <a:ext cx="91440" cy="12862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24128" y="5199888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4128" y="519988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4840224"/>
            <a:ext cx="6035040" cy="12862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Add a circle by diameter and one through two points on existing geometry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01000" y="5099304"/>
            <a:ext cx="3246120" cy="76809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29016" y="5099304"/>
            <a:ext cx="2990088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C → D → 40  ·  C → 2P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162763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5B6372"/>
                </a:solidFill>
                <a:latin typeface="Arial"/>
              </a:rPr>
              <a:t>STEPS 1–3 OF 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  <p:transition spd="fast">
    <p:fade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STEP-BY-STEP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Circles, Rectangles and Polygons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10634472" cy="128625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91440" cy="12862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4128" y="2188464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188464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828800"/>
            <a:ext cx="6035040" cy="12862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Draw a tangent-tangent-radius circle touching two existing circles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2087880"/>
            <a:ext cx="3246120" cy="76809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29016" y="2087880"/>
            <a:ext cx="2990088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C → TTR → pick 2 tangents → radius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334512"/>
            <a:ext cx="10634472" cy="128625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334512"/>
            <a:ext cx="91440" cy="12862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24128" y="369417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369417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334512"/>
            <a:ext cx="6035040" cy="12862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Create the rectangle feature, then a hexagon inscribed in a 30-radius circle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01000" y="3593592"/>
            <a:ext cx="3246120" cy="76809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29016" y="3593592"/>
            <a:ext cx="2990088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REC → corner → @80,50  ·  POL → 6 → I → 30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4840224"/>
            <a:ext cx="10634472" cy="128625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4840224"/>
            <a:ext cx="91440" cy="12862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" y="5199888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4128" y="519988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4840224"/>
            <a:ext cx="6035040" cy="12862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Verify against the solution ex2.dwg and save your drawing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01000" y="5099304"/>
            <a:ext cx="3246120" cy="76809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29016" y="5099304"/>
            <a:ext cx="2990088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SAVEAS ex2-mine.dwg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162763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5B6372"/>
                </a:solidFill>
                <a:latin typeface="Arial"/>
              </a:rPr>
              <a:t>STEPS 4–6 OF 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  <p:transition spd="fast">
    <p:fade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Circles, Rectangles and Polygons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Check your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Every circle's centre and radius match the sheet (use LIST), the hexagon has 6 equal sides, and your drawing overlays ex2.dwg cleanly.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  <p:transition spd="fast">
    <p:fade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Polylines, Arcs, Ellipses and Splines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63093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Draw practice drawing EX-3 combining polylines with arc segments, standalone arcs, an ellipse and a spline, plus construction lines to project feature positions between views.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0" y="1691640"/>
            <a:ext cx="4114800" cy="4069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60920" y="2490133"/>
            <a:ext cx="4023360" cy="247209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ex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535853"/>
            <a:ext cx="3931920" cy="2380654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77240" y="4023360"/>
            <a:ext cx="6309360" cy="1965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160520"/>
            <a:ext cx="5852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You'll produce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480560"/>
            <a:ext cx="5852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The completed EX-3 drawing with mixed line/arc geometry drawn as clean, connected objects.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285232"/>
            <a:ext cx="5852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5B6372"/>
                </a:solidFill>
                <a:latin typeface="Arial"/>
              </a:rPr>
              <a:t>Commands:  </a:t>
            </a:r>
            <a:r>
              <a:rPr sz="1150" b="0">
                <a:solidFill>
                  <a:srgbClr val="5B6372"/>
                </a:solidFill>
                <a:latin typeface="Arial"/>
              </a:rPr>
              <a:t>PLINE (Arc mode), ARC, ELLIPSE, SPLINE, XLINE, POINT/DIVIDE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Files: labs/lab-04-polylines-arcs-ellipses-and-splines/ex3.dwg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  <p:transition spd="fast">
    <p:fade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STEP-BY-STEP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Polylines, Arcs, Ellipses and Splines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10634472" cy="128625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91440" cy="12862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4128" y="2188464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188464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828800"/>
            <a:ext cx="9326880" cy="12862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Open the EX-3 sheet (ex3-drawing-sheet.pdf) and plan the outline as one polyline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334512"/>
            <a:ext cx="10634472" cy="128625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34512"/>
            <a:ext cx="91440" cy="12862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24128" y="369417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369417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334512"/>
            <a:ext cx="6035040" cy="12862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Draw the outline with PLINE, switching between Line and Arc segments as you go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1000" y="3593592"/>
            <a:ext cx="3246120" cy="76809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29016" y="3593592"/>
            <a:ext cx="2990088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PL → pick → A (arc) → L (line)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4840224"/>
            <a:ext cx="10634472" cy="128625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4840224"/>
            <a:ext cx="91440" cy="12862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24128" y="5199888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4128" y="519988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4840224"/>
            <a:ext cx="6035040" cy="12862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Place construction lines to project the centres of features between views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01000" y="5099304"/>
            <a:ext cx="3246120" cy="76809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29016" y="5099304"/>
            <a:ext cx="2990088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XL → H / V through centres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162763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5B6372"/>
                </a:solidFill>
                <a:latin typeface="Arial"/>
              </a:rPr>
              <a:t>STEPS 1–3 OF 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  <p:transition spd="fast">
    <p:fade/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STEP-BY-STEP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Polylines, Arcs, Ellipses and Splines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10634472" cy="128625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91440" cy="12862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4128" y="2188464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188464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828800"/>
            <a:ext cx="6035040" cy="12862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Add a three-point arc and a centre-start-end arc where the sheet shows open curves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2087880"/>
            <a:ext cx="3246120" cy="76809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29016" y="2087880"/>
            <a:ext cx="2990088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A → 3 points  ·  A → 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334512"/>
            <a:ext cx="10634472" cy="128625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334512"/>
            <a:ext cx="91440" cy="12862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24128" y="369417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369417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334512"/>
            <a:ext cx="6035040" cy="12862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Draw the ellipse from its axis endpoints and a smooth spline through the fit points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01000" y="3593592"/>
            <a:ext cx="3246120" cy="76809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29016" y="3593592"/>
            <a:ext cx="2990088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EL → axis ends → half-width  ·  SPL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4840224"/>
            <a:ext cx="10634472" cy="128625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4840224"/>
            <a:ext cx="91440" cy="12862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" y="5199888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4128" y="519988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4840224"/>
            <a:ext cx="6035040" cy="12862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Compare with ex3.dwg, purge the construction lines and save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01000" y="5099304"/>
            <a:ext cx="3246120" cy="76809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29016" y="5099304"/>
            <a:ext cx="2990088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ERASE xlines → SAVEAS ex3-mine.dwg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162763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5B6372"/>
                </a:solidFill>
                <a:latin typeface="Arial"/>
              </a:rPr>
              <a:t>STEPS 4–6 OF 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  <p:transition spd="fast">
    <p:fade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Polylines, Arcs, Ellipses and Splines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Check your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outline is a single polyline (one object when selected), arcs and the ellipse match the sheet dimensions, and no construction lines remain in the final drawing.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  <p:transition spd="fast">
    <p:fade/>
  </p:transition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2D Isometric Drawing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63093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Use ISODRAFT to create a 2D isometric representation of the 3D object supplied in iso-object.dwg, switching isoplanes and drawing isocircles for the round features.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0" y="1691640"/>
            <a:ext cx="4114800" cy="4069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60920" y="2198166"/>
            <a:ext cx="4023360" cy="30560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so-obj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243886"/>
            <a:ext cx="3931920" cy="2964588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77240" y="4023360"/>
            <a:ext cx="6309360" cy="1965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160520"/>
            <a:ext cx="5852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You'll produce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480560"/>
            <a:ext cx="5852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 flat isometric drawing of the 3D object — edges on the three isoplanes plus isocircle holes.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285232"/>
            <a:ext cx="5852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5B6372"/>
                </a:solidFill>
                <a:latin typeface="Arial"/>
              </a:rPr>
              <a:t>Commands:  </a:t>
            </a:r>
            <a:r>
              <a:rPr sz="1150" b="0">
                <a:solidFill>
                  <a:srgbClr val="5B6372"/>
                </a:solidFill>
                <a:latin typeface="Arial"/>
              </a:rPr>
              <a:t>ISODRAFT, isoplanes (F5), ELLIPSE Isocircle, polar tracking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Files: labs/lab-05-2d-isometric-drawing/iso-object.dwg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  <p:transition spd="fast">
    <p:fade/>
  </p:transition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STEP-BY-STEP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2D Isometric Drawing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10634472" cy="128625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91440" cy="12862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4128" y="2188464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188464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828800"/>
            <a:ext cx="9326880" cy="12862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Open the object sheet iso-object-sheet.pdf and identify its three faces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334512"/>
            <a:ext cx="10634472" cy="128625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34512"/>
            <a:ext cx="91440" cy="12862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24128" y="369417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369417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334512"/>
            <a:ext cx="6035040" cy="12862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Turn on isometric drafting from the status bar and set the Top isoplane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1000" y="3593592"/>
            <a:ext cx="3246120" cy="76809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29016" y="3593592"/>
            <a:ext cx="2990088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ISODRAFT → Isoplane Top (F5)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4840224"/>
            <a:ext cx="10634472" cy="128625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4840224"/>
            <a:ext cx="91440" cy="12862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24128" y="5199888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4128" y="519988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4840224"/>
            <a:ext cx="6035040" cy="12862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Draw the top face edges along the 30°/150° isometric axes with polar tracking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01000" y="5099304"/>
            <a:ext cx="3246120" cy="76809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29016" y="5099304"/>
            <a:ext cx="2990088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L with polar 30°/150°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162763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5B6372"/>
                </a:solidFill>
                <a:latin typeface="Arial"/>
              </a:rPr>
              <a:t>STEPS 1–3 OF 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  <p:transition spd="fast">
    <p:fade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STEP-BY-STEP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2D Isometric Drawing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10634472" cy="128625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91440" cy="12862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4128" y="2188464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188464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828800"/>
            <a:ext cx="6035040" cy="12862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Switch to the Right and Left isoplanes and complete the vertical faces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2087880"/>
            <a:ext cx="3246120" cy="76809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29016" y="2087880"/>
            <a:ext cx="2990088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F5 → Right · F5 → Left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334512"/>
            <a:ext cx="10634472" cy="128625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334512"/>
            <a:ext cx="91440" cy="12862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24128" y="369417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369417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334512"/>
            <a:ext cx="6035040" cy="12862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Add the round features as isocircles on the correct isoplane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01000" y="3593592"/>
            <a:ext cx="3246120" cy="76809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29016" y="3593592"/>
            <a:ext cx="2990088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EL → I (Isocircle) → centre → radius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4840224"/>
            <a:ext cx="10634472" cy="128625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4840224"/>
            <a:ext cx="91440" cy="12862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" y="5199888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4128" y="519988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4840224"/>
            <a:ext cx="6035040" cy="12862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Compare your isometric with the 3D model in iso-object.dwg and save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01000" y="5099304"/>
            <a:ext cx="3246120" cy="76809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29016" y="5099304"/>
            <a:ext cx="2990088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SAVEAS iso-mine.dwg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162763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5B6372"/>
                </a:solidFill>
                <a:latin typeface="Arial"/>
              </a:rPr>
              <a:t>STEPS 4–6 OF 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  <p:transition spd="fast">
    <p:fade/>
  </p:transition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2D Isometric Drawing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Check your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Each face lies on the correct isoplane (edges at 30°/90°/150°), the isocircles read as ellipses aligned to their faces, and the drawing matches the supplied object's proportions.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  <p:transition spd="fast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Technical Drawing with AutoCAD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Lab 2 — Creating Lines and Coordinates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completed EX-1 profile drawn to size, matching the supplied solution DWG.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Lab 3 — Circles, Rectangles and Polygons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completed EX-2 drawing with all holes, rectangles and polygons placed to the sheet dimensions.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Lab 4 — Polylines, Arcs, Ellipses and Splines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completed EX-3 drawing with mixed line/arc geometry drawn as clean, connected objects.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Lab 5 — 2D Isometric Drawing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flat isometric drawing of the 3D object — edges on the three isoplanes plus isocircle holes.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  <p:transition spd="fast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Modifying Objects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Move · Copy · Rotate · Offset · Mirror · Trim · Fillet · Arrays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  <p:transition spd="fast">
    <p:fade/>
  </p:transition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SKILLS FRAMEWORK A3 · K3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Modifying Objects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Relocate &amp; duplicate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MOVE, COPY and ROTATE reposition objects from a base point to a second point or angle.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Offset &amp; mirror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OFFSET creates parallel copies at a set distance; MIRROR reflects half a symmetric design.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Trim &amp; extend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Quick and Standard modes cut objects back to, or extend them to meet, boundary edges.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Fillet &amp; chamfer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FILLET rounds a corner with a radius; CHAMFER bevels it with distances or an angle.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Arrays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Rectangular, polar and path arrays distribute copies in rows/columns, around a centre, or along a curve.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Stretch, scale &amp; explode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STRETCH lengthens with a crossing window; SCALE resizes about a base point; EXPLODE breaks compounds.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  <p:transition spd="fast">
    <p:fade/>
  </p:transition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MODIFY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Relocating and Duplicating Objects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MOVE (M)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Select objects, pick a base point, then the second point — the objects relocate exactly.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COPY (CO)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Same flow as MOVE but leaves the original; Multiple mode places copy after copy.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ROTATE (RO)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Rotate about a base point by an absolute angle, or use Reference to match geometry.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OFFSET (O)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Creates concentric circles, parallel lines and parallel curves at a set distance.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  <p:transition spd="fast">
    <p:fade/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MODIFY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Offset in Practice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394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Specify the offset distance, select the object, then click the side to offset to.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Through mode offsets through a picked point instead of a distance.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Offset polylines keep their corners; circles offset concentrically.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Wall outlines, slots and rims are all one offset away from their centreline.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783080"/>
            <a:ext cx="502920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92240" y="2881771"/>
            <a:ext cx="4846320" cy="2146017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056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927491"/>
            <a:ext cx="4754880" cy="205457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  <p:transition spd="fast">
    <p:fade/>
  </p:transition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MODIFY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Mirror, Stretch and Scale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MIRROR (MI)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Draw half of a symmetric design, then reflect it across a two-point mirror line.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STRETCH (S)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Select with a crossing window; endpoints inside move, the rest stay anchored.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SCALE (SC)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Resize about a base point by factor — or Reference to hit an exact length.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Grips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Select first, then drag grips to stretch/move without any command.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  <p:transition spd="fast">
    <p:fade/>
  </p:transition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MODIFY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Trim and Extend — Two Modes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Quick mode (default)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Standard mode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Select the objects to be trimmed or extended, one by one or by dragging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All visible geometry acts as the cutting/boundary edge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Fastest for everyday cleanup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First select boundary edges, press Enter, then select objects to trim/extend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Press Enter at the first prompt to make everything a boundary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Precise control for crowded drawings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  <p:transition spd="fast">
    <p:fade/>
  </p:transition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MODIFY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Arrays — Rectangular, Polar and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394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ARRAY creates copies arranged in a pattern — associative by default.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Rectangular: rows, columns and levels with set spacing.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Polar: evenly distributes copies around a centre point or axis.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Path: distributes copies along a line, polyline or curve.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783080"/>
            <a:ext cx="502920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289665" y="1874520"/>
            <a:ext cx="3251470" cy="416051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066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5385" y="1920240"/>
            <a:ext cx="3160030" cy="40690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  <p:transition spd="fast">
    <p:fade/>
  </p:transition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MODIFY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Fillet and Chamfer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394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FILLET rounds the corner between two objects with a set radius.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Enter r (Radius) first to change the current fillet radius.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CHAMFER bevels a corner using two distances or a distance and angle.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Radius 0 / distance 0 are quick ways to square off a corner exactly.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783080"/>
            <a:ext cx="502920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92240" y="3154094"/>
            <a:ext cx="4846320" cy="16013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072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3199814"/>
            <a:ext cx="4754880" cy="15099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  <p:transition spd="fast">
    <p:fade/>
  </p:transition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MODIFY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Erase, Explode, Break, Divide and Measure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ERASE (E)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Remove selected objects — or select first and press Delete.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EXPLODE (X)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Break a compound object (polyline, block, array) into components.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BREAK / Break at Point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Split lines, open polylines and arcs at one or two points.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DIVIDE · MEASURE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Place point nodes at equal counts (DIVIDE) or set intervals (MEASURE).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  <p:transition spd="fast">
    <p:fade/>
  </p:transition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Modifying Objects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Move, Copy, Rotate and Offset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 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Trim, Extend, Fillet and Chamfer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Lab 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Mirror, Stretch, Scale and Arrays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  <p:transition spd="fast">
    <p:fade/>
  </p:transition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Move, Copy, Rotate and Offset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63093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Build practice drawing EX-4 by drawing one feature and then positioning the rest with MOVE, COPY (multiple), ROTATE with reference angle and OFFSET for the parallel profiles.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0" y="1691640"/>
            <a:ext cx="4114800" cy="4069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60920" y="1955581"/>
            <a:ext cx="4023360" cy="3541197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ex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001301"/>
            <a:ext cx="3931920" cy="3449757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77240" y="4023360"/>
            <a:ext cx="6309360" cy="1965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160520"/>
            <a:ext cx="5852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You'll produce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480560"/>
            <a:ext cx="5852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The completed EX-4 drawing produced with modify commands rather than re-drawing each feature.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285232"/>
            <a:ext cx="5852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5B6372"/>
                </a:solidFill>
                <a:latin typeface="Arial"/>
              </a:rPr>
              <a:t>Commands:  </a:t>
            </a:r>
            <a:r>
              <a:rPr sz="1150" b="0">
                <a:solidFill>
                  <a:srgbClr val="5B6372"/>
                </a:solidFill>
                <a:latin typeface="Arial"/>
              </a:rPr>
              <a:t>MOVE, COPY (Multiple/Array), ROTATE (Reference), OFFSET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Files: labs/lab-06-move-copy-rotate-and-offset/ex4.dwg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  <p:transition spd="fast">
    <p:fade/>
  </p:transition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STEP-BY-STEP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Move, Copy, Rotate and Offset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10634472" cy="128625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91440" cy="12862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4128" y="2188464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188464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828800"/>
            <a:ext cx="9326880" cy="12862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Open the EX-4 sheet (ex4-drawing-sheet.pdf) and spot the repeated features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334512"/>
            <a:ext cx="10634472" cy="128625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34512"/>
            <a:ext cx="91440" cy="12862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24128" y="369417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369417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334512"/>
            <a:ext cx="6035040" cy="12862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Draw the base profile, then offset it to create the parallel inner/outer edges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1000" y="3593592"/>
            <a:ext cx="3246120" cy="76809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29016" y="3593592"/>
            <a:ext cx="2990088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O → distance → pick side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4840224"/>
            <a:ext cx="10634472" cy="128625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4840224"/>
            <a:ext cx="91440" cy="12862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24128" y="5199888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4128" y="519988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4840224"/>
            <a:ext cx="6035040" cy="12862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Draw one hole feature and copy it to every dimensioned centre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01000" y="5099304"/>
            <a:ext cx="3246120" cy="76809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29016" y="5099304"/>
            <a:ext cx="2990088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CO → base point → second points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162763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5B6372"/>
                </a:solidFill>
                <a:latin typeface="Arial"/>
              </a:rPr>
              <a:t>STEPS 1–3 OF 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  <p:transition spd="fast">
    <p:fade/>
  </p:transition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STEP-BY-STEP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Move, Copy, Rotate and Offset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10634472" cy="128625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91440" cy="12862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4128" y="2188464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188464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828800"/>
            <a:ext cx="6035040" cy="12862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Move a mis-placed feature precisely from its centre to the correct intersection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2087880"/>
            <a:ext cx="3246120" cy="76809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29016" y="2087880"/>
            <a:ext cx="2990088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M → base → destination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334512"/>
            <a:ext cx="10634472" cy="128625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334512"/>
            <a:ext cx="91440" cy="12862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24128" y="369417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369417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334512"/>
            <a:ext cx="6035040" cy="12862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Rotate the angled feature about its base point, using Reference to match the sheet angle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01000" y="3593592"/>
            <a:ext cx="3246120" cy="76809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29016" y="3593592"/>
            <a:ext cx="2990088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RO → base → R → ref angle → new angle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4840224"/>
            <a:ext cx="10634472" cy="128625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4840224"/>
            <a:ext cx="91440" cy="12862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" y="5199888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4128" y="519988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4840224"/>
            <a:ext cx="6035040" cy="12862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Check against ex4.dwg and save your version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01000" y="5099304"/>
            <a:ext cx="3246120" cy="76809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29016" y="5099304"/>
            <a:ext cx="2990088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SAVEAS ex4-mine.dwg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162763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5B6372"/>
                </a:solidFill>
                <a:latin typeface="Arial"/>
              </a:rPr>
              <a:t>STEPS 4–6 OF 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</p:cSld>
  <p:clrMapOvr>
    <a:masterClrMapping/>
  </p:clrMapOvr>
  <p:transition spd="fast">
    <p:fade/>
  </p:transition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Move, Copy, Rotate and Offset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Check your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Feature spacings measure correct with DIST, offsets are at the specified distances, and the rotated feature sits at exactly the sheet's angle.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</p:spTree>
  </p:cSld>
  <p:clrMapOvr>
    <a:masterClrMapping/>
  </p:clrMapOvr>
  <p:transition spd="fast">
    <p:fade/>
  </p:transition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Trim, Extend, Fillet and Chamfer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63093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Complete practice drawing EX-5 by trimming overlapping construction geometry, extending short edges to their boundaries, and finishing corners with fillets and chamfers.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0" y="1691640"/>
            <a:ext cx="4114800" cy="4069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60920" y="2570935"/>
            <a:ext cx="4023360" cy="231048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ex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616655"/>
            <a:ext cx="3931920" cy="2219049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77240" y="4023360"/>
            <a:ext cx="6309360" cy="1965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160520"/>
            <a:ext cx="5852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You'll produce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480560"/>
            <a:ext cx="5852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 clean EX-5 profile with every corner finished exactly as dimensioned on the sheet.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285232"/>
            <a:ext cx="5852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5B6372"/>
                </a:solidFill>
                <a:latin typeface="Arial"/>
              </a:rPr>
              <a:t>Commands:  </a:t>
            </a:r>
            <a:r>
              <a:rPr sz="1150" b="0">
                <a:solidFill>
                  <a:srgbClr val="5B6372"/>
                </a:solidFill>
                <a:latin typeface="Arial"/>
              </a:rPr>
              <a:t>TRIM (Quick/Standard), EXTEND, FILLET, CHAMFER, BREAK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Files: labs/lab-07-trim-extend-fillet-and-chamfer/ex5.dwg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</p:spTree>
  </p:cSld>
  <p:clrMapOvr>
    <a:masterClrMapping/>
  </p:clrMapOvr>
  <p:transition spd="fast">
    <p:fade/>
  </p:transition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STEP-BY-STEP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Trim, Extend, Fillet and Chamfer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10634472" cy="128625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91440" cy="12862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4128" y="2188464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188464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828800"/>
            <a:ext cx="9326880" cy="12862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Open the EX-5 sheet (ex5-drawing-sheet.pdf) and rough out the profile with overlapping lines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334512"/>
            <a:ext cx="10634472" cy="128625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34512"/>
            <a:ext cx="91440" cy="12862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24128" y="369417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369417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334512"/>
            <a:ext cx="6035040" cy="12862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Trim the overshoots in Quick mode — click or drag across the pieces to remove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1000" y="3593592"/>
            <a:ext cx="3246120" cy="76809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29016" y="3593592"/>
            <a:ext cx="2990088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TR → click segments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4840224"/>
            <a:ext cx="10634472" cy="128625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4840224"/>
            <a:ext cx="91440" cy="12862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24128" y="5199888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4128" y="519988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4840224"/>
            <a:ext cx="6035040" cy="12862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Use Standard mode where you need explicit cutting edges: select boundaries, then objects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01000" y="5099304"/>
            <a:ext cx="3246120" cy="76809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29016" y="5099304"/>
            <a:ext cx="2990088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TR → Enter (all edges) → pick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162763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5B6372"/>
                </a:solidFill>
                <a:latin typeface="Arial"/>
              </a:rPr>
              <a:t>STEPS 1–3 OF 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</p:spTree>
  </p:cSld>
  <p:clrMapOvr>
    <a:masterClrMapping/>
  </p:clrMapOvr>
  <p:transition spd="fast">
    <p:fade/>
  </p:transition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STEP-BY-STEP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Trim, Extend, Fillet and Chamfer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10634472" cy="128625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91440" cy="12862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4128" y="2188464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188464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828800"/>
            <a:ext cx="6035040" cy="12862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Extend the short edges to meet their boundary lines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2087880"/>
            <a:ext cx="3246120" cy="76809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29016" y="2087880"/>
            <a:ext cx="2990088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EX → pick edges to extend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334512"/>
            <a:ext cx="10634472" cy="128625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334512"/>
            <a:ext cx="91440" cy="12862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24128" y="369417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369417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334512"/>
            <a:ext cx="6035040" cy="12862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Fillet the rounded corners at the sheet radius, and chamfer the bevelled ones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01000" y="3593592"/>
            <a:ext cx="3246120" cy="76809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29016" y="3593592"/>
            <a:ext cx="2990088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F → R → 10 → pick 2 lines  ·  CHA → D → 5,5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4840224"/>
            <a:ext cx="10634472" cy="128625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4840224"/>
            <a:ext cx="91440" cy="12862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" y="5199888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4128" y="519988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4840224"/>
            <a:ext cx="6035040" cy="12862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Compare with ex5.dwg and save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01000" y="5099304"/>
            <a:ext cx="3246120" cy="76809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29016" y="5099304"/>
            <a:ext cx="2990088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SAVEAS ex5-mine.dwg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162763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5B6372"/>
                </a:solidFill>
                <a:latin typeface="Arial"/>
              </a:rPr>
              <a:t>STEPS 4–6 OF 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</p:spTree>
  </p:cSld>
  <p:clrMapOvr>
    <a:masterClrMapping/>
  </p:clrMapOvr>
  <p:transition spd="fast">
    <p:fade/>
  </p:transition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Trim, Extend, Fillet and Chamfer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Check your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No overshooting or dangling segments remain (zoom around the whole profile), and every fillet radius / chamfer distance matches the drawing sheet.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</p:spTree>
  </p:cSld>
  <p:clrMapOvr>
    <a:masterClrMapping/>
  </p:clrMapOvr>
  <p:transition spd="fast">
    <p:fade/>
  </p:transition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Mirror, Stretch, Scale and Arrays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63093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Produce practice drawing EX-6 by drawing half of the symmetric design and mirroring it, then distributing the hole pattern with rectangular and polar arrays, and adjusting sizes with STRETCH and SCALE.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0" y="1691640"/>
            <a:ext cx="4114800" cy="4069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60920" y="2269992"/>
            <a:ext cx="4023360" cy="291237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ex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315712"/>
            <a:ext cx="3931920" cy="2820935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77240" y="4023360"/>
            <a:ext cx="6309360" cy="1965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160520"/>
            <a:ext cx="5852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You'll produce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480560"/>
            <a:ext cx="5852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The completed EX-6 drawing with its symmetric outline and evenly arrayed hole pattern.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285232"/>
            <a:ext cx="5852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5B6372"/>
                </a:solidFill>
                <a:latin typeface="Arial"/>
              </a:rPr>
              <a:t>Commands:  </a:t>
            </a:r>
            <a:r>
              <a:rPr sz="1150" b="0">
                <a:solidFill>
                  <a:srgbClr val="5B6372"/>
                </a:solidFill>
                <a:latin typeface="Arial"/>
              </a:rPr>
              <a:t>MIRROR, STRETCH (crossing window), SCALE (Reference), ARRAYRECT, ARRAYPOLAR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Files: labs/lab-08-mirror-stretch-scale-and-arrays/ex6.dwg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</p:spTree>
  </p:cSld>
  <p:clrMapOvr>
    <a:masterClrMapping/>
  </p:clrMapOvr>
  <p:transition spd="fast">
    <p:fade/>
  </p:transition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STEP-BY-STEP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Mirror, Stretch, Scale and Arrays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10634472" cy="128625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91440" cy="12862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4128" y="2188464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188464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828800"/>
            <a:ext cx="9326880" cy="12862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Open the EX-6 sheet (ex6-drawing-sheet.pdf) and find its axis of symmetry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334512"/>
            <a:ext cx="10634472" cy="128625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34512"/>
            <a:ext cx="91440" cy="12862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24128" y="369417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369417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334512"/>
            <a:ext cx="6035040" cy="12862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Draw one half of the outline, then mirror it across the centreline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1000" y="3593592"/>
            <a:ext cx="3246120" cy="76809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29016" y="3593592"/>
            <a:ext cx="2990088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MI → select → axis pt1 → pt2 → 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4840224"/>
            <a:ext cx="10634472" cy="128625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4840224"/>
            <a:ext cx="91440" cy="12862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24128" y="5199888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4128" y="519988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4840224"/>
            <a:ext cx="6035040" cy="12862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Array one hole into the rectangular pattern (rows, columns, spacing from the sheet)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01000" y="5099304"/>
            <a:ext cx="3246120" cy="76809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29016" y="5099304"/>
            <a:ext cx="2990088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AR → R → rows/cols/spacing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162763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5B6372"/>
                </a:solidFill>
                <a:latin typeface="Arial"/>
              </a:rPr>
              <a:t>STEPS 1–3 OF 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</p:spTree>
  </p:cSld>
  <p:clrMapOvr>
    <a:masterClrMapping/>
  </p:clrMapOvr>
  <p:transition spd="fast">
    <p:fade/>
  </p:transition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STEP-BY-STEP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Mirror, Stretch, Scale and Arrays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10634472" cy="128625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91440" cy="12862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4128" y="2188464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188464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828800"/>
            <a:ext cx="6035040" cy="12862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Distribute the bolt holes around the centre with a polar array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2087880"/>
            <a:ext cx="3246120" cy="76809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29016" y="2087880"/>
            <a:ext cx="2990088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AR → PO → centre → items → 360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334512"/>
            <a:ext cx="10634472" cy="128625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334512"/>
            <a:ext cx="91440" cy="12862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24128" y="369417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369417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334512"/>
            <a:ext cx="6035040" cy="12862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Stretch the slot to its dimensioned length with a crossing window, scale a feature with Reference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01000" y="3593592"/>
            <a:ext cx="3246120" cy="76809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29016" y="3593592"/>
            <a:ext cx="2990088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S → crossing → base → distance  ·  SC → 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4840224"/>
            <a:ext cx="10634472" cy="128625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4840224"/>
            <a:ext cx="91440" cy="12862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" y="5199888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4128" y="519988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4840224"/>
            <a:ext cx="6035040" cy="12862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Verify against ex6.dwg and save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01000" y="5099304"/>
            <a:ext cx="3246120" cy="76809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29016" y="5099304"/>
            <a:ext cx="2990088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SAVEAS ex6-mine.dwg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162763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5B6372"/>
                </a:solidFill>
                <a:latin typeface="Arial"/>
              </a:rPr>
              <a:t>STEPS 4–6 OF 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</p:spTree>
  </p:cSld>
  <p:clrMapOvr>
    <a:masterClrMapping/>
  </p:clrMapOvr>
  <p:transition spd="fast">
    <p:fade/>
  </p:transition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Mirror, Stretch, Scale and Arrays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Check your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two halves are perfectly symmetric about the centreline, array counts and spacings match the sheet, and the stretched slot measures the dimensioned length.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</p:spTree>
  </p:cSld>
  <p:clrMapOvr>
    <a:masterClrMapping/>
  </p:clrMapOvr>
  <p:transition spd="fast">
    <p:fade/>
  </p:transition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Modifying Objects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9427464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Lab 6 — Move, Copy, Rotate and Offset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completed EX-4 drawing produced with modify commands rather than re-drawing each feature.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319272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3447288"/>
            <a:ext cx="9427464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Lab 7 — Trim, Extend, Fillet and Chamfer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clean EX-5 profile with every corner finished exactly as dimensioned on the sheet.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855464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983480"/>
            <a:ext cx="9427464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Lab 8 — Mirror, Stretch, Scale and Arrays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completed EX-6 drawing with its symmetric outline and evenly arrayed hole pattern.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86</a:t>
            </a:r>
          </a:p>
        </p:txBody>
      </p:sp>
    </p:spTree>
  </p:cSld>
  <p:clrMapOvr>
    <a:masterClrMapping/>
  </p:clrMapOvr>
  <p:transition spd="fast">
    <p:fade/>
  </p:transition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Organizing Objects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Object Properties · Layers · Blocks, Attributes &amp; Reusable Content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87</a:t>
            </a:r>
          </a:p>
        </p:txBody>
      </p:sp>
    </p:spTree>
  </p:cSld>
  <p:clrMapOvr>
    <a:masterClrMapping/>
  </p:clrMapOvr>
  <p:transition spd="fast">
    <p:fade/>
  </p:transition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SKILLS FRAMEWORK A4 · K4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Organizing Objects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Object properties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Colour, linetype and lineweight — set ByLayer and inspected in the Properties palette (PR).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Layers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primary method of organising a drawing by function; control on/off, freeze/thaw, lock and plot.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Grips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Multi-functional grips stretch, move, rotate, scale and copy objects without typing a command.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Hide &amp; isolate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Temporarily isolate the objects you are working on and hide the rest of the drawing.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Blocks &amp; attributes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Blocks are reusable symbols; attributes attach part numbers and data — the basis of part lists.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External references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Xrefs attach another drawing (or PDF underlay) so teams share one live reference file.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</p:spTree>
  </p:cSld>
  <p:clrMapOvr>
    <a:masterClrMapping/>
  </p:clrMapOvr>
  <p:transition spd="fast">
    <p:fade/>
  </p:transition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PROPERTIES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Object Properties and the Properties Palette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394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The Home tab's Layers and Properties panels set the most common properties.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The Properties palette (PR / Ctrl+1) is the complete list for any selection.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With nothing selected it shows — and sets — the current defaults.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Keep colour, linetype and lineweight ByLayer so layers stay in control.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783080"/>
            <a:ext cx="502920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67184" y="1874520"/>
            <a:ext cx="2296431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080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2904" y="1920240"/>
            <a:ext cx="2204991" cy="40690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89</a:t>
            </a:r>
          </a:p>
        </p:txBody>
      </p:sp>
    </p:spTree>
  </p:cSld>
  <p:clrMapOvr>
    <a:masterClrMapping/>
  </p:clrMapOvr>
  <p:transition spd="fast">
    <p:fade/>
  </p:transition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LAYERS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Layers — Organising Every Drawing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394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Layers organise objects by function: outlines, hidden lines, centrelines, text, dimensions.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The Layer Properties Manager creates layers and sets colour, linetype, lineweight and plot.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All new objects are drawn on the current layer (green tick).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Off vs freeze: frozen layers are skipped entirely and speed up big drawings; lock to view but not edit.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783080"/>
            <a:ext cx="502920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92240" y="3089253"/>
            <a:ext cx="4846320" cy="173105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081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3134973"/>
            <a:ext cx="4754880" cy="163961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</p:spTree>
  </p:cSld>
  <p:clrMapOvr>
    <a:masterClrMapping/>
  </p:clrMapOvr>
  <p:transition spd="fast">
    <p:fade/>
  </p:transition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FOCUS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Hide and Isolate Objects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394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Isolate Selected Objects hides everything except your selection.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Hide Selected Objects removes just the selection from view.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Both are temporary view states — End Object Isolation restores all.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Right-click menu or the status-bar lightbulb icon controls isolation.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783080"/>
            <a:ext cx="502920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92240" y="2287580"/>
            <a:ext cx="4846320" cy="333439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085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333300"/>
            <a:ext cx="4754880" cy="324295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91</a:t>
            </a:r>
          </a:p>
        </p:txBody>
      </p:sp>
    </p:spTree>
  </p:cSld>
  <p:clrMapOvr>
    <a:masterClrMapping/>
  </p:clrMapOvr>
  <p:transition spd="fast">
    <p:fade/>
  </p:transition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DIRECT EDITING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Multi-Functional Grips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394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Select with no command running and grips appear at defining points.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Drag a grip to stretch; press Enter to cycle Stretch → Move → Rotate → Scale → Mirror.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Hover a grip for its multi-function menu (e.g. add vertex, convert to arc).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Lines, polylines, arcs, dimensions and viewports all expose smart grips.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783080"/>
            <a:ext cx="502920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92240" y="2902982"/>
            <a:ext cx="4846320" cy="21035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087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948702"/>
            <a:ext cx="4754880" cy="20121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92</a:t>
            </a:r>
          </a:p>
        </p:txBody>
      </p:sp>
    </p:spTree>
  </p:cSld>
  <p:clrMapOvr>
    <a:masterClrMapping/>
  </p:clrMapOvr>
  <p:transition spd="fast">
    <p:fade/>
  </p:transition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REUSABLE CONTENT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Blocks, Dynamic Blocks and Attributes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394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BLOCK combines objects into a named, reusable symbol inserted with INSERT.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Dynamic blocks add parameters and actions — one block, many sizes/states.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Attributes attach data to a block: part numbers, descriptions, quantities.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ATTDEF defines the tag, prompt and default; DATAEXTRACTION turns attributes into part-list tables.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783080"/>
            <a:ext cx="502920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92240" y="2723232"/>
            <a:ext cx="4846320" cy="246309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124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768952"/>
            <a:ext cx="4754880" cy="237165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93</a:t>
            </a:r>
          </a:p>
        </p:txBody>
      </p:sp>
    </p:spTree>
  </p:cSld>
  <p:clrMapOvr>
    <a:masterClrMapping/>
  </p:clrMapOvr>
  <p:transition spd="fast">
    <p:fade/>
  </p:transition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REUSABLE CONTENT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External References (Xrefs)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394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An xref attaches another drawing file into the current drawing — live, not copied.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The External References palette organises, reloads and repaths every reference.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Teams share one title block or site plan; edits flow to every host on reload.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PDFs and images attach the same way as underlays for tracing.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783080"/>
            <a:ext cx="502920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92240" y="3041541"/>
            <a:ext cx="4846320" cy="1826477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131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3087261"/>
            <a:ext cx="4754880" cy="173503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94</a:t>
            </a:r>
          </a:p>
        </p:txBody>
      </p:sp>
    </p:spTree>
  </p:cSld>
  <p:clrMapOvr>
    <a:masterClrMapping/>
  </p:clrMapOvr>
  <p:transition spd="fast">
    <p:fade/>
  </p:transition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Organizing Objects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Labs 9–10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Object Properties and Layers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Grips, Hide and Isolate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Labs 11–12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Blocks, Attributes and Part Lists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External References and PDF Import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95</a:t>
            </a:r>
          </a:p>
        </p:txBody>
      </p:sp>
    </p:spTree>
  </p:cSld>
  <p:clrMapOvr>
    <a:masterClrMapping/>
  </p:clrMapOvr>
  <p:transition spd="fast">
    <p:fade/>
  </p:transition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Object Properties and Layers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Open the furniture drawing lab-table-lesson2.dwg, create a layer scheme (outline, hidden, centre, dimensions, text), assign colours/linetypes/lineweights ByLayer, and move the existing objects onto the correct layers.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4023360"/>
            <a:ext cx="10698480" cy="1965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60520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You'll produce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2412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 layered version of the table drawing where every object's colour and linetype come ByLayer.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28523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5B6372"/>
                </a:solidFill>
                <a:latin typeface="Arial"/>
              </a:rPr>
              <a:t>Commands:  </a:t>
            </a:r>
            <a:r>
              <a:rPr sz="1150" b="0">
                <a:solidFill>
                  <a:srgbClr val="5B6372"/>
                </a:solidFill>
                <a:latin typeface="Arial"/>
              </a:rPr>
              <a:t>LAYER (LA), Properties palette (PR), Layer Walk, MATCHPROP, freeze/thaw, lock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Files: labs/lab-09-object-properties-and-layers/lab-table-lesson2.dwg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96</a:t>
            </a:r>
          </a:p>
        </p:txBody>
      </p:sp>
    </p:spTree>
  </p:cSld>
  <p:clrMapOvr>
    <a:masterClrMapping/>
  </p:clrMapOvr>
  <p:transition spd="fast">
    <p:fade/>
  </p:transition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STEP-BY-STEP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Object Properties and Layers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10634472" cy="128625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91440" cy="12862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4128" y="2188464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188464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828800"/>
            <a:ext cx="6035040" cy="12862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Open lab-table-lesson2.dwg and inspect current object properties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2087880"/>
            <a:ext cx="3246120" cy="76809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29016" y="2087880"/>
            <a:ext cx="2990088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PR (Properties palette)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334512"/>
            <a:ext cx="10634472" cy="128625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334512"/>
            <a:ext cx="91440" cy="12862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24128" y="369417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369417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334512"/>
            <a:ext cx="6035040" cy="12862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Create layers: A-OUTLINE, A-HIDDEN, A-CENTRE, A-DIMS, A-TEXT with colours and linetypes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01000" y="3593592"/>
            <a:ext cx="3246120" cy="76809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29016" y="3593592"/>
            <a:ext cx="2990088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LA → New Layer → colour/linetype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4840224"/>
            <a:ext cx="10634472" cy="128625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4840224"/>
            <a:ext cx="91440" cy="12862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" y="5199888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4128" y="519988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4840224"/>
            <a:ext cx="6035040" cy="12862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Load the HIDDEN and CENTER linetypes and set lineweights per layer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01000" y="5099304"/>
            <a:ext cx="3246120" cy="76809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29016" y="5099304"/>
            <a:ext cx="2990088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LA → Linetype → Load → HIDDEN, CENTER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162763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5B6372"/>
                </a:solidFill>
                <a:latin typeface="Arial"/>
              </a:rPr>
              <a:t>STEPS 1–3 OF 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97</a:t>
            </a:r>
          </a:p>
        </p:txBody>
      </p:sp>
    </p:spTree>
  </p:cSld>
  <p:clrMapOvr>
    <a:masterClrMapping/>
  </p:clrMapOvr>
  <p:transition spd="fast">
    <p:fade/>
  </p:transition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STEP-BY-STEP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Object Properties and Layers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10634472" cy="128625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91440" cy="12862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4128" y="2188464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188464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828800"/>
            <a:ext cx="6035040" cy="12862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Select objects by type and move them to their layers; copy formatting with MATCHPROP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2087880"/>
            <a:ext cx="3246120" cy="76809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29016" y="2087880"/>
            <a:ext cx="2990088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select → Layer drop-down  ·  MA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334512"/>
            <a:ext cx="10634472" cy="128625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334512"/>
            <a:ext cx="91440" cy="12862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24128" y="369417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369417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334512"/>
            <a:ext cx="6035040" cy="12862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Practise layer states: turn off, freeze/thaw, lock and Layer Walk through the scheme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01000" y="3593592"/>
            <a:ext cx="3246120" cy="76809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29016" y="3593592"/>
            <a:ext cx="2990088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LAYWALK · LAYFRZ · LAYLCK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4840224"/>
            <a:ext cx="10634472" cy="128625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4840224"/>
            <a:ext cx="91440" cy="12862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" y="5199888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4128" y="519988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4840224"/>
            <a:ext cx="6035040" cy="12862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Set every object's colour, linetype and lineweight to ByLayer and save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01000" y="5099304"/>
            <a:ext cx="3246120" cy="76809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29016" y="5099304"/>
            <a:ext cx="2990088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SETBYLAYER → SAVEAS table-layers.dwg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162763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5B6372"/>
                </a:solidFill>
                <a:latin typeface="Arial"/>
              </a:rPr>
              <a:t>STEPS 4–6 OF 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98</a:t>
            </a:r>
          </a:p>
        </p:txBody>
      </p:sp>
    </p:spTree>
  </p:cSld>
  <p:clrMapOvr>
    <a:masterClrMapping/>
  </p:clrMapOvr>
  <p:transition spd="fast">
    <p:fade/>
  </p:transition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Object Properties and Layers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Check your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Turning each layer off hides exactly its objects, everything reports ByLayer in the Properties palette, and Layer Walk steps cleanly through the scheme.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99</a:t>
            </a:r>
          </a:p>
        </p:txBody>
      </p:sp>
    </p:spTree>
  </p:cSld>
  <p:clrMapOvr>
    <a:masterClrMapping/>
  </p:clrMapOvr>
  <p:transition spd="fast">
    <p:fade/>
  </p:transition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Grips, Hide and Isolate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63093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Use multi-functional grips on practice drawing EX-7 to stretch, move, copy and rotate features without commands, and manage a busy view with Isolate and Hide Selected Objects.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0" y="1691640"/>
            <a:ext cx="4114800" cy="4069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60920" y="2226403"/>
            <a:ext cx="4023360" cy="299955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ex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272123"/>
            <a:ext cx="3931920" cy="2908113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77240" y="4023360"/>
            <a:ext cx="6309360" cy="1965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160520"/>
            <a:ext cx="5852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You'll produce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480560"/>
            <a:ext cx="5852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An edited EX-7 layout adjusted entirely with grips, plus fluent use of isolate/hide/end-isolate.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285232"/>
            <a:ext cx="5852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5B6372"/>
                </a:solidFill>
                <a:latin typeface="Arial"/>
              </a:rPr>
              <a:t>Commands:  </a:t>
            </a:r>
            <a:r>
              <a:rPr sz="1150" b="0">
                <a:solidFill>
                  <a:srgbClr val="5B6372"/>
                </a:solidFill>
                <a:latin typeface="Arial"/>
              </a:rPr>
              <a:t>Multi-functional grips, grip modes (Enter to cycle), Isolate/Hide Objects, Select Similar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Files: labs/lab-10-grips-hide-and-isolate/ex7.dwg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100</a:t>
            </a:r>
          </a:p>
        </p:txBody>
      </p:sp>
    </p:spTree>
  </p:cSld>
  <p:clrMapOvr>
    <a:masterClrMapping/>
  </p:clrMapOvr>
  <p:transition spd="fast">
    <p:fade/>
  </p:transition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STEP-BY-STEP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Grips, Hide and Isolate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10634472" cy="128625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91440" cy="12862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4128" y="2188464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188464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828800"/>
            <a:ext cx="9326880" cy="12862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Open ex7.dwg, click an object and hover its grips to see the grip menu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334512"/>
            <a:ext cx="10634472" cy="128625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34512"/>
            <a:ext cx="91440" cy="12862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24128" y="369417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369417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334512"/>
            <a:ext cx="6035040" cy="12862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Stretch an endpoint grip to lengthen an edge; use the midpoint grip to move the object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1000" y="3593592"/>
            <a:ext cx="3246120" cy="76809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29016" y="3593592"/>
            <a:ext cx="2990088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click grip → drag / type distance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4840224"/>
            <a:ext cx="10634472" cy="128625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4840224"/>
            <a:ext cx="91440" cy="12862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24128" y="5199888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4128" y="519988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4840224"/>
            <a:ext cx="6035040" cy="12862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Cycle grip modes with Enter: Stretch → Move → Rotate → Scale → Mirror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01000" y="5099304"/>
            <a:ext cx="3246120" cy="76809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29016" y="5099304"/>
            <a:ext cx="2990088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select grip → Enter to cycle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162763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5B6372"/>
                </a:solidFill>
                <a:latin typeface="Arial"/>
              </a:rPr>
              <a:t>STEPS 1–3 OF 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101</a:t>
            </a:r>
          </a:p>
        </p:txBody>
      </p:sp>
    </p:spTree>
  </p:cSld>
  <p:clrMapOvr>
    <a:masterClrMapping/>
  </p:clrMapOvr>
  <p:transition spd="fast">
    <p:fade/>
  </p:transition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STEP-BY-STEP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Grips, Hide and Isolate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10634472" cy="128625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91440" cy="12862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4128" y="2188464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188464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828800"/>
            <a:ext cx="6035040" cy="12862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Copy a feature by grip-moving with the Copy option (or Ctrl held)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2087880"/>
            <a:ext cx="3246120" cy="76809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29016" y="2087880"/>
            <a:ext cx="2990088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grip → Move → C (Copy)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334512"/>
            <a:ext cx="10634472" cy="128625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334512"/>
            <a:ext cx="91440" cy="12862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24128" y="369417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369417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334512"/>
            <a:ext cx="6035040" cy="12862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Right-click a feature: Isolate Objects → Isolate Selected, edit it, then End Isolation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01000" y="3593592"/>
            <a:ext cx="3246120" cy="76809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29016" y="3593592"/>
            <a:ext cx="2990088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ISOLATEOBJECTS · UNISOLATEOBJECTS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4840224"/>
            <a:ext cx="10634472" cy="128625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4840224"/>
            <a:ext cx="91440" cy="12862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" y="5199888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4128" y="519988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4840224"/>
            <a:ext cx="6035040" cy="12862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Use Select Similar to grab all matching objects and hide them temporarily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01000" y="5099304"/>
            <a:ext cx="3246120" cy="76809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29016" y="5099304"/>
            <a:ext cx="2990088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select → right-click → Select Similar → Hide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162763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5B6372"/>
                </a:solidFill>
                <a:latin typeface="Arial"/>
              </a:rPr>
              <a:t>STEPS 4–6 OF 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102</a:t>
            </a:r>
          </a:p>
        </p:txBody>
      </p:sp>
    </p:spTree>
  </p:cSld>
  <p:clrMapOvr>
    <a:masterClrMapping/>
  </p:clrMapOvr>
  <p:transition spd="fast">
    <p:fade/>
  </p:transition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Grips, Hide and Isolate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Check your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You can stretch/move/rotate/copy with grips alone (no typed commands), and isolate then restore any subset of the drawing without losing objects.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103</a:t>
            </a:r>
          </a:p>
        </p:txBody>
      </p:sp>
    </p:spTree>
  </p:cSld>
  <p:clrMapOvr>
    <a:masterClrMapping/>
  </p:clrMapOvr>
  <p:transition spd="fast">
    <p:fade/>
  </p:transition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Blocks, Attributes and Part Lists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Define a reusable part-tag block with attributes (part number, description, quantity) in the title-block drawing, insert it against each component, and prepare the attribute data that will feed the part list.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4023360"/>
            <a:ext cx="10698480" cy="1965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60520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You'll produce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2412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 BALLOON block with PART_NO / DESC / QTY attributes, inserted and filled in for each part.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28523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5B6372"/>
                </a:solidFill>
                <a:latin typeface="Arial"/>
              </a:rPr>
              <a:t>Commands:  </a:t>
            </a:r>
            <a:r>
              <a:rPr sz="1150" b="0">
                <a:solidFill>
                  <a:srgbClr val="5B6372"/>
                </a:solidFill>
                <a:latin typeface="Arial"/>
              </a:rPr>
              <a:t>BLOCK, ATTDEF, INSERT, ATTEDIT, groups, DATAEXTRACTION (preview)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Files: labs/lab-11-blocks-attributes-and-part-lists/title-block.dwg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104</a:t>
            </a:r>
          </a:p>
        </p:txBody>
      </p:sp>
    </p:spTree>
  </p:cSld>
  <p:clrMapOvr>
    <a:masterClrMapping/>
  </p:clrMapOvr>
  <p:transition spd="fast">
    <p:fade/>
  </p:transition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STEP-BY-STEP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Blocks, Attributes and Part Lists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10634472" cy="128625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91440" cy="12862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4128" y="2188464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188464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828800"/>
            <a:ext cx="6035040" cy="12862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Open title-block.dwg and draw the balloon symbol (circle + leader stub)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2087880"/>
            <a:ext cx="3246120" cy="76809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29016" y="2087880"/>
            <a:ext cx="2990088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C → radius 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334512"/>
            <a:ext cx="10634472" cy="128625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334512"/>
            <a:ext cx="91440" cy="12862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24128" y="369417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369417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334512"/>
            <a:ext cx="6035040" cy="12862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Define attributes PART_NO, DESC and QTY with prompts and default values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01000" y="3593592"/>
            <a:ext cx="3246120" cy="76809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29016" y="3593592"/>
            <a:ext cx="2990088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ATTDEF → tag/prompt/default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4840224"/>
            <a:ext cx="10634472" cy="128625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4840224"/>
            <a:ext cx="91440" cy="12862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" y="5199888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4128" y="519988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4840224"/>
            <a:ext cx="6035040" cy="12862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Create the block BALLOON from the circle plus its attribute definitions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01000" y="5099304"/>
            <a:ext cx="3246120" cy="76809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29016" y="5099304"/>
            <a:ext cx="2990088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B → name BALLOON → select objects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162763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5B6372"/>
                </a:solidFill>
                <a:latin typeface="Arial"/>
              </a:rPr>
              <a:t>STEPS 1–3 OF 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105</a:t>
            </a:r>
          </a:p>
        </p:txBody>
      </p:sp>
    </p:spTree>
  </p:cSld>
  <p:clrMapOvr>
    <a:masterClrMapping/>
  </p:clrMapOvr>
  <p:transition spd="fast">
    <p:fade/>
  </p:transition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STEP-BY-STEP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Blocks, Attributes and Part Lists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10634472" cy="128625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91440" cy="12862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4128" y="2188464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188464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828800"/>
            <a:ext cx="6035040" cy="12862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Insert the balloon against each component and fill in the attribute values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2087880"/>
            <a:ext cx="3246120" cy="76809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29016" y="2087880"/>
            <a:ext cx="2990088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I → BALLOON → answer prompts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334512"/>
            <a:ext cx="10634472" cy="128625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334512"/>
            <a:ext cx="91440" cy="12862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24128" y="369417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369417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334512"/>
            <a:ext cx="6035040" cy="12862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Double-click a balloon to edit its attributes; group related parts together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01000" y="3593592"/>
            <a:ext cx="3246120" cy="76809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29016" y="3593592"/>
            <a:ext cx="2990088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ATTEDIT / EATTEDIT · GROUP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4840224"/>
            <a:ext cx="10634472" cy="128625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4840224"/>
            <a:ext cx="91440" cy="12862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" y="5199888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4128" y="519988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4840224"/>
            <a:ext cx="6035040" cy="12862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Preview extracting the attribute data — this becomes the part list in Lab 14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01000" y="5099304"/>
            <a:ext cx="3246120" cy="76809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29016" y="5099304"/>
            <a:ext cx="2990088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DATAEXTRACTION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162763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5B6372"/>
                </a:solidFill>
                <a:latin typeface="Arial"/>
              </a:rPr>
              <a:t>STEPS 4–6 OF 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106</a:t>
            </a:r>
          </a:p>
        </p:txBody>
      </p:sp>
    </p:spTree>
  </p:cSld>
  <p:clrMapOvr>
    <a:masterClrMapping/>
  </p:clrMapOvr>
  <p:transition spd="fast">
    <p:fade/>
  </p:transition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Blocks, Attributes and Part Lists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Check your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Each inserted balloon prompts for and displays its own part number, description and quantity, and Data Extraction lists one row per balloon with the values you entered.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107</a:t>
            </a:r>
          </a:p>
        </p:txBody>
      </p:sp>
    </p:spTree>
  </p:cSld>
  <p:clrMapOvr>
    <a:masterClrMapping/>
  </p:clrMapOvr>
  <p:transition spd="fast">
    <p:fade/>
  </p:transition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External References and PDF Import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Attach the title-block drawing as an external reference under the table drawing, observe how xref updates flow through, then attach a PDF as an underlay and import PDF geometry.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4023360"/>
            <a:ext cx="10698480" cy="1965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60520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You'll produce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2412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 host drawing with a live xref title block and a PDF underlay ready for tracing.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28523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5B6372"/>
                </a:solidFill>
                <a:latin typeface="Arial"/>
              </a:rPr>
              <a:t>Commands:  </a:t>
            </a:r>
            <a:r>
              <a:rPr sz="1150" b="0">
                <a:solidFill>
                  <a:srgbClr val="5B6372"/>
                </a:solidFill>
                <a:latin typeface="Arial"/>
              </a:rPr>
              <a:t>XREF/ATTACH, External References palette, PDFATTACH, PDFIMPORT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Files: labs/lab-12-external-references-and-pdf-import/title-block.dwg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108</a:t>
            </a:r>
          </a:p>
        </p:txBody>
      </p:sp>
    </p:spTree>
  </p:cSld>
  <p:clrMapOvr>
    <a:masterClrMapping/>
  </p:clrMapOvr>
  <p:transition spd="fast">
    <p:fade/>
  </p:transition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· STEP-BY-STEP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External References and PDF Import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10634472" cy="128625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91440" cy="12862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4128" y="2188464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188464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828800"/>
            <a:ext cx="6035040" cy="12862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Open your layered table drawing from Lab 9 as the host drawing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2087880"/>
            <a:ext cx="3246120" cy="76809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29016" y="2087880"/>
            <a:ext cx="2990088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OPEN table-layers.dwg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334512"/>
            <a:ext cx="10634472" cy="128625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334512"/>
            <a:ext cx="91440" cy="12862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24128" y="369417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369417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334512"/>
            <a:ext cx="6035040" cy="12862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Attach title-block.dwg as an Xref at 0,0, scale 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01000" y="3593592"/>
            <a:ext cx="3246120" cy="76809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29016" y="3593592"/>
            <a:ext cx="2990088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XATTACH → title-block.dwg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4840224"/>
            <a:ext cx="10634472" cy="128625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4840224"/>
            <a:ext cx="91440" cy="12862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" y="5199888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4128" y="519988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4840224"/>
            <a:ext cx="6035040" cy="12862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Open the External References palette and note the xref's status and path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01000" y="5099304"/>
            <a:ext cx="3246120" cy="76809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29016" y="5099304"/>
            <a:ext cx="2990088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XR (External References)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162763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5B6372"/>
                </a:solidFill>
                <a:latin typeface="Arial"/>
              </a:rPr>
              <a:t>STEPS 1–3 OF 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109</a:t>
            </a:r>
          </a:p>
        </p:txBody>
      </p:sp>
    </p:spTree>
  </p:cSld>
  <p:clrMapOvr>
    <a:masterClrMapping/>
  </p:clrMapOvr>
  <p:transition spd="fast">
    <p:fade/>
  </p:transition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· STEP-BY-STEP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External References and PDF Import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10634472" cy="128625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91440" cy="12862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4128" y="2188464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188464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828800"/>
            <a:ext cx="6035040" cy="12862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Edit the title block in its own file, save, and reload the xref in the host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2087880"/>
            <a:ext cx="3246120" cy="76809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29016" y="2087880"/>
            <a:ext cx="2990088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XR → right-click → Reload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334512"/>
            <a:ext cx="10634472" cy="128625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334512"/>
            <a:ext cx="91440" cy="12862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24128" y="369417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369417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334512"/>
            <a:ext cx="6035040" cy="12862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Attach the supplied drawing-sheet PDF as an underlay and snap to its geometry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01000" y="3593592"/>
            <a:ext cx="3246120" cy="76809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29016" y="3593592"/>
            <a:ext cx="2990088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PDFATTACH → ex1-drawing-sheet.pdf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4840224"/>
            <a:ext cx="10634472" cy="128625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4840224"/>
            <a:ext cx="91440" cy="12862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" y="5199888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4128" y="519988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4840224"/>
            <a:ext cx="6035040" cy="12862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Import the PDF's vector geometry into the drawing and inspect the created objects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01000" y="5099304"/>
            <a:ext cx="3246120" cy="76809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29016" y="5099304"/>
            <a:ext cx="2990088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PDFIMPORT → select underlay area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162763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5B6372"/>
                </a:solidFill>
                <a:latin typeface="Arial"/>
              </a:rPr>
              <a:t>STEPS 4–6 OF 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110</a:t>
            </a:r>
          </a:p>
        </p:txBody>
      </p:sp>
    </p:spTree>
  </p:cSld>
  <p:clrMapOvr>
    <a:masterClrMapping/>
  </p:clrMapOvr>
  <p:transition spd="fast">
    <p:fade/>
  </p:transition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External References and PDF Import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Check your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Changing the title block file and reloading updates the host without copying geometry, and PDFIMPORT produces editable AutoCAD objects from the underlay.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111</a:t>
            </a:r>
          </a:p>
        </p:txBody>
      </p:sp>
    </p:spTree>
  </p:cSld>
  <p:clrMapOvr>
    <a:masterClrMapping/>
  </p:clrMapOvr>
  <p:transition spd="fast">
    <p:fade/>
  </p:transition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Organizing Objects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Lab 9 — Object Properties and Layers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layered version of the table drawing where every object's colour and linetype come ByLayer.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Lab 10 — Grips, Hide and Isolate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An edited EX-7 layout adjusted entirely with grips, plus fluent use of isolate/hide/end-isolate.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Lab 11 — Blocks, Attributes and Part Lists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BALLOON block with PART_NO / DESC / QTY attributes, inserted and filled in for each part.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Lab 12 — External References and PDF Import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host drawing with a live xref title block and a PDF underlay ready for tracing.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112</a:t>
            </a:r>
          </a:p>
        </p:txBody>
      </p:sp>
    </p:spTree>
  </p:cSld>
  <p:clrMapOvr>
    <a:masterClrMapping/>
  </p:clrMapOvr>
  <p:transition spd="fast">
    <p:fade/>
  </p:transition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Design Documentation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Text · Dimensions · Tables &amp; Part Lists · Layouts, Viewports &amp; Plotting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113</a:t>
            </a:r>
          </a:p>
        </p:txBody>
      </p:sp>
    </p:spTree>
  </p:cSld>
  <p:clrMapOvr>
    <a:masterClrMapping/>
  </p:clrMapOvr>
  <p:transition spd="fast">
    <p:fade/>
  </p:transition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SKILLS FRAMEWORK A5 · K5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Design Documentation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Text &amp; text styles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Single-line and multiline text; a text style controls font, height and justification centrally.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Dimensions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Linear, aligned, angular, radial, diameter, ordinate and arc-length dimensions annotate real sizes.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Dimension styles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named collection of settings — arrowheads, text placement, tolerances — applied consistently.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Multileaders &amp; clouds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Multileaders point notes at features; revision clouds flag changed areas for checking.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Tables &amp; part lists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TABLE creates row/column data such as bills of materials extracted from block attributes.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Layouts &amp; plotting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Scaled viewports on a titled layout sheet, printed with PLOT or published to PDF/DWF.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114</a:t>
            </a:r>
          </a:p>
        </p:txBody>
      </p:sp>
    </p:spTree>
  </p:cSld>
  <p:clrMapOvr>
    <a:masterClrMapping/>
  </p:clrMapOvr>
  <p:transition spd="fast">
    <p:fade/>
  </p:transition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ANNOTATION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Text and Text Styles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394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Multiline text (MTEXT) fills a bounding box; single-line text (TEXT) is quick labels.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 text style names a collection of settings: font, height, spacing, justification.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Create styles once (STYLE) and every note updates when the style changes.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Annotative styles size text automatically to the viewport scale.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783080"/>
            <a:ext cx="502920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92240" y="2747802"/>
            <a:ext cx="4846320" cy="241395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093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793522"/>
            <a:ext cx="4754880" cy="232251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115</a:t>
            </a:r>
          </a:p>
        </p:txBody>
      </p:sp>
    </p:spTree>
  </p:cSld>
  <p:clrMapOvr>
    <a:masterClrMapping/>
  </p:clrMapOvr>
  <p:transition spd="fast">
    <p:fade/>
  </p:transition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ANNOTATION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Dimensions — The Basic Types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394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Linear and aligned dimensions measure edges; angular measures between lines.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Radial and diameter dimensions measure arcs and circles, with centre marks.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Arc-length and ordinate dimensions cover curved lengths and datum offsets.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Continue chains dimensions end-to-end; Baseline stacks them from one datum.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783080"/>
            <a:ext cx="502920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92240" y="2707277"/>
            <a:ext cx="4846320" cy="249500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097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752997"/>
            <a:ext cx="4754880" cy="240356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116</a:t>
            </a:r>
          </a:p>
        </p:txBody>
      </p:sp>
    </p:spTree>
  </p:cSld>
  <p:clrMapOvr>
    <a:masterClrMapping/>
  </p:clrMapOvr>
  <p:transition spd="fast">
    <p:fade/>
  </p:transition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ANNOTATION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Dimension Styles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What a style controls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Arrowheads, extension lines, text placement, units and tolerances — consistently.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Create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DIMSTYLE → New: name it, set fit, text height and precision for your standard.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Apply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Set the style current before dimensioning; existing dimensions can be updated.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House rule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Never override individual dimension text — fix the style instead.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117</a:t>
            </a:r>
          </a:p>
        </p:txBody>
      </p:sp>
    </p:spTree>
  </p:cSld>
  <p:clrMapOvr>
    <a:masterClrMapping/>
  </p:clrMapOvr>
  <p:transition spd="fast">
    <p:fade/>
  </p:transition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ANNOTATION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Multileaders and Revision Clouds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394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 multileader is an arrowhead, landing line and note text (or block) in one object.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MLEADER places it; add/remove leader lines and align multiple leaders neatly.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Revision clouds flag changed areas for checking and approval.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Draw a cloud by dragging, corner points — or convert an existing closed object.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783080"/>
            <a:ext cx="502920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92240" y="3087498"/>
            <a:ext cx="4846320" cy="173456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104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3133218"/>
            <a:ext cx="4754880" cy="164312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118</a:t>
            </a:r>
          </a:p>
        </p:txBody>
      </p:sp>
    </p:spTree>
  </p:cSld>
  <p:clrMapOvr>
    <a:masterClrMapping/>
  </p:clrMapOvr>
  <p:transition spd="fast">
    <p:fade/>
  </p:transition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PART LISTS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Tables and Part Lists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394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TABLE creates a compound object of rows and columns from a table style.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Type into cells like a spreadsheet; formulas and fields are supported.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DATAEXTRACTION fills a table from block attributes — the bill of materials.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Tables can link to external Excel data and update both ways.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783080"/>
            <a:ext cx="502920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92240" y="2282743"/>
            <a:ext cx="4846320" cy="334407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106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328463"/>
            <a:ext cx="4754880" cy="325263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119</a:t>
            </a:r>
          </a:p>
        </p:txBody>
      </p:sp>
    </p:spTree>
  </p:cSld>
  <p:clrMapOvr>
    <a:masterClrMapping/>
  </p:clrMapOvr>
  <p:transition spd="fast">
    <p:fade/>
  </p:transition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Layouts and Viewports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394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 layout is the 2D sheet environment: title block, viewports, annotation.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MVIEW creates layout viewports — windows into model space.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Set each viewport's scale exactly (e.g. 1:20), then lock it against accidental zooming.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One model, many sheets: each layout composes its own views and scales.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783080"/>
            <a:ext cx="502920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92240" y="2534279"/>
            <a:ext cx="4846320" cy="284100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108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579999"/>
            <a:ext cx="4754880" cy="274956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120</a:t>
            </a:r>
          </a:p>
        </p:txBody>
      </p:sp>
    </p:spTree>
  </p:cSld>
  <p:clrMapOvr>
    <a:masterClrMapping/>
  </p:clrMapOvr>
  <p:transition spd="fast">
    <p:fade/>
  </p:transition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Plotting and Printing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394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Plot from the layout: choose plotter, paper size, plot area, scale and orientation.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DWG To PDF.pc3 publishes the standard submission PDF.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Page setups save the configuration per layout and import between drawings.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Preview before plotting — check lineweights, scale and the full sheet.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783080"/>
            <a:ext cx="502920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92240" y="2145557"/>
            <a:ext cx="4846320" cy="361844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118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191277"/>
            <a:ext cx="4754880" cy="352700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121</a:t>
            </a:r>
          </a:p>
        </p:txBody>
      </p:sp>
    </p:spTree>
  </p:cSld>
  <p:clrMapOvr>
    <a:masterClrMapping/>
  </p:clrMapOvr>
  <p:transition spd="fast">
    <p:fade/>
  </p:transition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Hatching and Gradients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394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HATCH fills enclosed areas with patterns (ANSI31 for sections), solids or gradients.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Pick an internal point — island detection keeps text and holes clear.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Scale and angle make adjacent parts read distinctly in section views.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HATCHEDIT changes an existing hatch; hatches stay associative to their boundary.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783080"/>
            <a:ext cx="502920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276926" y="1874520"/>
            <a:ext cx="3276948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132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2646" y="1920240"/>
            <a:ext cx="3185508" cy="40690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122</a:t>
            </a:r>
          </a:p>
        </p:txBody>
      </p:sp>
    </p:spTree>
  </p:cSld>
  <p:clrMapOvr>
    <a:masterClrMapping/>
  </p:clrMapOvr>
  <p:transition spd="fast">
    <p:fade/>
  </p:transition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Design Documentation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Labs 13–14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Text and Text Styles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Dimensions, Multileaders and Part-List Tables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Labs 15–16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Hatching and Detail Finishing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Layouts, Viewports and Plotting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123</a:t>
            </a:r>
          </a:p>
        </p:txBody>
      </p:sp>
    </p:spTree>
  </p:cSld>
  <p:clrMapOvr>
    <a:masterClrMapping/>
  </p:clrMapOvr>
  <p:transition spd="fast">
    <p:fade/>
  </p:transition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05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Text and Text Styles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Annotate the layered table drawing with single-line and multiline text, create and apply text styles for titles and notes, and fill in the title-block fields.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4023360"/>
            <a:ext cx="10698480" cy="1965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60520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You'll produce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2412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An annotated drawing with consistent TITLE and NOTES text styles and a completed title block.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28523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5B6372"/>
                </a:solidFill>
                <a:latin typeface="Arial"/>
              </a:rPr>
              <a:t>Commands:  </a:t>
            </a:r>
            <a:r>
              <a:rPr sz="1150" b="0">
                <a:solidFill>
                  <a:srgbClr val="5B6372"/>
                </a:solidFill>
                <a:latin typeface="Arial"/>
              </a:rPr>
              <a:t>TEXT, MTEXT, STYLE, annotative text, SPELL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Files: labs/lab-13-text-and-text-styles/lab-table-lesson2.dwg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124</a:t>
            </a:r>
          </a:p>
        </p:txBody>
      </p:sp>
    </p:spTree>
  </p:cSld>
  <p:clrMapOvr>
    <a:masterClrMapping/>
  </p:clrMapOvr>
  <p:transition spd="fast">
    <p:fade/>
  </p:transition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 · STEP-BY-STEP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Text and Text Styles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10634472" cy="128625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91440" cy="12862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4128" y="2188464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188464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828800"/>
            <a:ext cx="6035040" cy="12862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Open your table drawing and create text styles TITLE (Arial, 5mm) and NOTES (Arial, 2.5mm)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2087880"/>
            <a:ext cx="3246120" cy="76809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29016" y="2087880"/>
            <a:ext cx="2990088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ST → New → font/height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334512"/>
            <a:ext cx="10634472" cy="128625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334512"/>
            <a:ext cx="91440" cy="12862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24128" y="369417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369417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334512"/>
            <a:ext cx="6035040" cy="12862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Add the drawing title with single-line text on the A-TEXT layer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01000" y="3593592"/>
            <a:ext cx="3246120" cy="76809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29016" y="3593592"/>
            <a:ext cx="2990088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DT → start point → height → rotation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4840224"/>
            <a:ext cx="10634472" cy="128625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4840224"/>
            <a:ext cx="91440" cy="12862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" y="5199888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4128" y="519988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4840224"/>
            <a:ext cx="6035040" cy="12862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Add a general-notes paragraph with multiline text in a bounding box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01000" y="5099304"/>
            <a:ext cx="3246120" cy="76809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29016" y="5099304"/>
            <a:ext cx="2990088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T (MTEXT) → pick corners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162763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5B6372"/>
                </a:solidFill>
                <a:latin typeface="Arial"/>
              </a:rPr>
              <a:t>STEPS 1–3 OF 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125</a:t>
            </a:r>
          </a:p>
        </p:txBody>
      </p:sp>
    </p:spTree>
  </p:cSld>
  <p:clrMapOvr>
    <a:masterClrMapping/>
  </p:clrMapOvr>
  <p:transition spd="fast">
    <p:fade/>
  </p:transition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 · STEP-BY-STEP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Text and Text Styles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10634472" cy="128625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91440" cy="12862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4128" y="2188464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188464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828800"/>
            <a:ext cx="6035040" cy="12862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Set the NOTES style current and re-style existing text via the Properties palette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2087880"/>
            <a:ext cx="3246120" cy="76809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29016" y="2087880"/>
            <a:ext cx="2990088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PR → Style → NOTES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334512"/>
            <a:ext cx="10634472" cy="128625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334512"/>
            <a:ext cx="91440" cy="12862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24128" y="369417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369417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334512"/>
            <a:ext cx="6035040" cy="12862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Fill in the title-block fields: title, drawn-by, date, scale, sheet number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01000" y="3593592"/>
            <a:ext cx="3246120" cy="76809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29016" y="3593592"/>
            <a:ext cx="2990088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double-click text → edit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4840224"/>
            <a:ext cx="10634472" cy="128625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4840224"/>
            <a:ext cx="91440" cy="12862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" y="5199888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4128" y="519988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4840224"/>
            <a:ext cx="6035040" cy="12862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Spell-check the drawing and save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01000" y="5099304"/>
            <a:ext cx="3246120" cy="76809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29016" y="5099304"/>
            <a:ext cx="2990088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SPELL → SAVE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162763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5B6372"/>
                </a:solidFill>
                <a:latin typeface="Arial"/>
              </a:rPr>
              <a:t>STEPS 4–6 OF 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126</a:t>
            </a:r>
          </a:p>
        </p:txBody>
      </p:sp>
    </p:spTree>
  </p:cSld>
  <p:clrMapOvr>
    <a:masterClrMapping/>
  </p:clrMapOvr>
  <p:transition spd="fast">
    <p:fade/>
  </p:transition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Text and Text Styles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Check your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All annotation uses your named styles (none on Standard), the title block is complete, and changing the NOTES style font updates every note at once.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127</a:t>
            </a:r>
          </a:p>
        </p:txBody>
      </p:sp>
    </p:spTree>
  </p:cSld>
  <p:clrMapOvr>
    <a:masterClrMapping/>
  </p:clrMapOvr>
  <p:transition spd="fast">
    <p:fade/>
  </p:transition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05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Dimensions, Multileaders and Part-List Tables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63093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Fully dimension practice drawing EX-8 with a metric dimension style — linear, aligned, radial, diameter, angular, continue and baseline — add multileader callouts, and create the part-list table from the Lab 11 balloon attributes.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0" y="1691640"/>
            <a:ext cx="4114800" cy="4069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89335" y="1737360"/>
            <a:ext cx="2766529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ex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5055" y="1783080"/>
            <a:ext cx="2675089" cy="38862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77240" y="4023360"/>
            <a:ext cx="6309360" cy="1965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160520"/>
            <a:ext cx="5852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You'll produce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480560"/>
            <a:ext cx="5852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 fully dimensioned EX-8 sheet with leader notes and a parts table (part no · description · qty).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285232"/>
            <a:ext cx="5852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5B6372"/>
                </a:solidFill>
                <a:latin typeface="Arial"/>
              </a:rPr>
              <a:t>Commands:  </a:t>
            </a:r>
            <a:r>
              <a:rPr sz="1150" b="0">
                <a:solidFill>
                  <a:srgbClr val="5B6372"/>
                </a:solidFill>
                <a:latin typeface="Arial"/>
              </a:rPr>
              <a:t>DIMSTYLE, DIM, DIMLINEAR/ALIGNED/RADIUS/DIAMETER/ANGULAR, DIMCONTINUE, DIMBASELINE, MLEADER, TABLE, DATAEXTRACTION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Files: labs/lab-14-dimensions-multileaders-and-part-list-tables/ex8.dwg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128</a:t>
            </a:r>
          </a:p>
        </p:txBody>
      </p:sp>
    </p:spTree>
  </p:cSld>
  <p:clrMapOvr>
    <a:masterClrMapping/>
  </p:clrMapOvr>
  <p:transition spd="fast">
    <p:fade/>
  </p:transition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· STEP-BY-STEP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Dimensions, Multileaders and Part-List Tables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10634472" cy="128625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91440" cy="12862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4128" y="2188464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188464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828800"/>
            <a:ext cx="6035040" cy="12862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Open ex8.dwg and create dimension style MECH-25 (ISO, 2.5mm text, closed-filled arrows)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2087880"/>
            <a:ext cx="3246120" cy="76809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29016" y="2087880"/>
            <a:ext cx="2990088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D (DIMSTYLE) → New → fit/text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334512"/>
            <a:ext cx="10634472" cy="128625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334512"/>
            <a:ext cx="91440" cy="12862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24128" y="369417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369417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334512"/>
            <a:ext cx="6035040" cy="12862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Place linear and aligned dimensions on the main edges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01000" y="3593592"/>
            <a:ext cx="3246120" cy="76809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29016" y="3593592"/>
            <a:ext cx="2990088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DLI · DAL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4840224"/>
            <a:ext cx="10634472" cy="128625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4840224"/>
            <a:ext cx="91440" cy="12862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" y="5199888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4128" y="519988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4840224"/>
            <a:ext cx="6035040" cy="12862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Dimension the circles and arcs with diameter, radius and angular dimensions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01000" y="5099304"/>
            <a:ext cx="3246120" cy="76809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29016" y="5099304"/>
            <a:ext cx="2990088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DDI · DRA · DAN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162763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5B6372"/>
                </a:solidFill>
                <a:latin typeface="Arial"/>
              </a:rPr>
              <a:t>STEPS 1–3 OF 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129</a:t>
            </a:r>
          </a:p>
        </p:txBody>
      </p:sp>
    </p:spTree>
  </p:cSld>
  <p:clrMapOvr>
    <a:masterClrMapping/>
  </p:clrMapOvr>
  <p:transition spd="fast">
    <p:fade/>
  </p:transition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· STEP-BY-STEP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Dimensions, Multileaders and Part-List Tables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10634472" cy="128625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91440" cy="12862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4128" y="2188464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188464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828800"/>
            <a:ext cx="6035040" cy="12862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Chain related dimensions with Continue, and datum-reference them with Baseline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2087880"/>
            <a:ext cx="3246120" cy="76809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29016" y="2087880"/>
            <a:ext cx="2990088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DCO · DBA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334512"/>
            <a:ext cx="10634472" cy="128625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334512"/>
            <a:ext cx="91440" cy="12862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24128" y="369417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369417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334512"/>
            <a:ext cx="6035040" cy="12862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Add multileader callouts for the hole notes and edge finishes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01000" y="3593592"/>
            <a:ext cx="3246120" cy="76809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29016" y="3593592"/>
            <a:ext cx="2990088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MLD → arrow point → landing → note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4840224"/>
            <a:ext cx="10634472" cy="128625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4840224"/>
            <a:ext cx="91440" cy="12862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" y="5199888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4128" y="519988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4840224"/>
            <a:ext cx="6035040" cy="12862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Insert a table for the part list and populate it from the Lab 11 attribute extraction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01000" y="5099304"/>
            <a:ext cx="3246120" cy="76809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29016" y="5099304"/>
            <a:ext cx="2990088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TB (TABLE) · DATAEXTRACTION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162763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5B6372"/>
                </a:solidFill>
                <a:latin typeface="Arial"/>
              </a:rPr>
              <a:t>STEPS 4–6 OF 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130</a:t>
            </a:r>
          </a:p>
        </p:txBody>
      </p:sp>
    </p:spTree>
  </p:cSld>
  <p:clrMapOvr>
    <a:masterClrMapping/>
  </p:clrMapOvr>
  <p:transition spd="fast">
    <p:fade/>
  </p:transition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· STEP-BY-STEP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Dimensions, Multileaders and Part-List Tables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10634472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91440" cy="42976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4128" y="369417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369417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828800"/>
            <a:ext cx="6035040" cy="4297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Add a revision cloud around one detail to flag it for checking, then save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3593592"/>
            <a:ext cx="3246120" cy="76809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29016" y="3593592"/>
            <a:ext cx="2990088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REVCLOUD → drag around detail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162763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5B6372"/>
                </a:solidFill>
                <a:latin typeface="Arial"/>
              </a:rPr>
              <a:t>STEPS 7–7 OF 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131</a:t>
            </a:r>
          </a:p>
        </p:txBody>
      </p:sp>
    </p:spTree>
  </p:cSld>
  <p:clrMapOvr>
    <a:masterClrMapping/>
  </p:clrMapOvr>
  <p:transition spd="fast">
    <p:fade/>
  </p:transition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Dimensions, Multileaders and Part-List Tables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Check your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Every dimension on the EX-8 sheet is reproduced with the MECH-25 style (no overridden text), leaders land neatly, and the table rows match the balloons one-for-one.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132</a:t>
            </a:r>
          </a:p>
        </p:txBody>
      </p:sp>
    </p:spTree>
  </p:cSld>
  <p:clrMapOvr>
    <a:masterClrMapping/>
  </p:clrMapOvr>
  <p:transition spd="fast">
    <p:fade/>
  </p:transition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05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Hatching and Detail Finishing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Apply section hatching to the closed areas of a section view — pattern, scale and angle — use gradient fills for presentation, and control hatch boundaries and islands.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4023360"/>
            <a:ext cx="10698480" cy="1965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60520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You'll produce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2412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 section view with correct ANSI/ISO hatch patterns and a presentation-filled elevation.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28523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5B6372"/>
                </a:solidFill>
                <a:latin typeface="Arial"/>
              </a:rPr>
              <a:t>Commands:  </a:t>
            </a:r>
            <a:r>
              <a:rPr sz="1150" b="0">
                <a:solidFill>
                  <a:srgbClr val="5B6372"/>
                </a:solidFill>
                <a:latin typeface="Arial"/>
              </a:rPr>
              <a:t>HATCH (pattern/scale/angle), gradient fills, boundary/island detection, HATCHEDIT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Files: labs/lab-15-hatching-and-detail-finishing/ex3.dwg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133</a:t>
            </a:r>
          </a:p>
        </p:txBody>
      </p:sp>
    </p:spTree>
  </p:cSld>
  <p:clrMapOvr>
    <a:masterClrMapping/>
  </p:clrMapOvr>
  <p:transition spd="fast">
    <p:fade/>
  </p:transition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· STEP-BY-STEP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Hatching and Detail Finishing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10634472" cy="128625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91440" cy="12862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4128" y="2188464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188464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828800"/>
            <a:ext cx="9326880" cy="12862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Open a drawing with closed profiles (reuse ex3-mine.dwg) and identify the cut areas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334512"/>
            <a:ext cx="10634472" cy="128625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34512"/>
            <a:ext cx="91440" cy="12862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24128" y="369417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369417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334512"/>
            <a:ext cx="6035040" cy="12862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Hatch the main section area with ANSI31 at a scale that reads clearly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1000" y="3593592"/>
            <a:ext cx="3246120" cy="76809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29016" y="3593592"/>
            <a:ext cx="2990088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H → Pattern ANSI31 → pick point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4840224"/>
            <a:ext cx="10634472" cy="128625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4840224"/>
            <a:ext cx="91440" cy="12862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24128" y="5199888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4128" y="519988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4840224"/>
            <a:ext cx="6035040" cy="12862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Set different angles for adjacent parts so the section reads unambiguously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01000" y="5099304"/>
            <a:ext cx="3246120" cy="76809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29016" y="5099304"/>
            <a:ext cx="2990088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H → Angle 90 → pick point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162763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5B6372"/>
                </a:solidFill>
                <a:latin typeface="Arial"/>
              </a:rPr>
              <a:t>STEPS 1–3 OF 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134</a:t>
            </a:r>
          </a:p>
        </p:txBody>
      </p:sp>
    </p:spTree>
  </p:cSld>
  <p:clrMapOvr>
    <a:masterClrMapping/>
  </p:clrMapOvr>
  <p:transition spd="fast">
    <p:fade/>
  </p:transition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· STEP-BY-STEP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Hatching and Detail Finishing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10634472" cy="128625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91440" cy="12862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4128" y="2188464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188464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828800"/>
            <a:ext cx="6035040" cy="12862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Control islands: hatch around text and holes using island detection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2087880"/>
            <a:ext cx="3246120" cy="76809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29016" y="2087880"/>
            <a:ext cx="2990088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H → Settings → Island detection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334512"/>
            <a:ext cx="10634472" cy="128625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334512"/>
            <a:ext cx="91440" cy="12862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24128" y="369417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369417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334512"/>
            <a:ext cx="6035040" cy="12862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Apply a two-colour gradient fill to the elevation face for presentation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01000" y="3593592"/>
            <a:ext cx="3246120" cy="76809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29016" y="3593592"/>
            <a:ext cx="2990088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GRADIENT → colours → pick area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4840224"/>
            <a:ext cx="10634472" cy="128625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4840224"/>
            <a:ext cx="91440" cy="12862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" y="5199888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4128" y="519988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4840224"/>
            <a:ext cx="6035040" cy="12862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Edit an existing hatch's pattern and scale, then save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01000" y="5099304"/>
            <a:ext cx="3246120" cy="76809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29016" y="5099304"/>
            <a:ext cx="2990088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HATCHEDIT → new scale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162763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5B6372"/>
                </a:solidFill>
                <a:latin typeface="Arial"/>
              </a:rPr>
              <a:t>STEPS 4–6 OF 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135</a:t>
            </a:r>
          </a:p>
        </p:txBody>
      </p:sp>
    </p:spTree>
  </p:cSld>
  <p:clrMapOvr>
    <a:masterClrMapping/>
  </p:clrMapOvr>
  <p:transition spd="fast">
    <p:fade/>
  </p:transition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Hatching and Detail Finishing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Check your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Hatches stay inside their boundaries (no bleed), adjacent parts hatch at different angles, and text/holes remain unhatched islands.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136</a:t>
            </a:r>
          </a:p>
        </p:txBody>
      </p:sp>
    </p:spTree>
  </p:cSld>
  <p:clrMapOvr>
    <a:masterClrMapping/>
  </p:clrMapOvr>
  <p:transition spd="fast">
    <p:fade/>
  </p:transition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05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Layouts, Viewports and Plotting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Compose an A3 layout: attach the title block, create scaled viewports (1:20 and a detail), lock them, and plot the sheet to PDF — the standard submission output.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4023360"/>
            <a:ext cx="10698480" cy="1965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60520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You'll produce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2412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 print-ready A3 layout with title block, two locked scaled viewports and a plotted PDF.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28523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5B6372"/>
                </a:solidFill>
                <a:latin typeface="Arial"/>
              </a:rPr>
              <a:t>Commands:  </a:t>
            </a:r>
            <a:r>
              <a:rPr sz="1150" b="0">
                <a:solidFill>
                  <a:srgbClr val="5B6372"/>
                </a:solidFill>
                <a:latin typeface="Arial"/>
              </a:rPr>
              <a:t>LAYOUT, PAGESETUP, MVIEW, viewport scale/lock, PLOT, DWG to PDF.pc3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Files: labs/lab-16-layouts-viewports-and-plotting/title-block.dwg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137</a:t>
            </a:r>
          </a:p>
        </p:txBody>
      </p:sp>
    </p:spTree>
  </p:cSld>
  <p:clrMapOvr>
    <a:masterClrMapping/>
  </p:clrMapOvr>
  <p:transition spd="fast">
    <p:fade/>
  </p:transition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 · STEP-BY-STEP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Layouts, Viewports and Plotting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10634472" cy="128625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91440" cy="12862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4128" y="2188464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188464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828800"/>
            <a:ext cx="6035040" cy="12862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Open your annotated drawing, switch to a Layout tab and rename it A3-SHEET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2087880"/>
            <a:ext cx="3246120" cy="76809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29016" y="2087880"/>
            <a:ext cx="2990088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right-click tab → Rename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334512"/>
            <a:ext cx="10634472" cy="128625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334512"/>
            <a:ext cx="91440" cy="12862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24128" y="369417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369417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334512"/>
            <a:ext cx="6035040" cy="12862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Set the page: DWG To PDF.pc3, ISO A3 (420×297), landscape, 1:1 plot scale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01000" y="3593592"/>
            <a:ext cx="3246120" cy="76809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29016" y="3593592"/>
            <a:ext cx="2990088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PAGESETUP → Modify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4840224"/>
            <a:ext cx="10634472" cy="128625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4840224"/>
            <a:ext cx="91440" cy="12862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" y="5199888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4128" y="519988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4840224"/>
            <a:ext cx="6035040" cy="12862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Insert the title block on the layout at 0,0 in paper space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01000" y="5099304"/>
            <a:ext cx="3246120" cy="76809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29016" y="5099304"/>
            <a:ext cx="2990088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I → title-block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162763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5B6372"/>
                </a:solidFill>
                <a:latin typeface="Arial"/>
              </a:rPr>
              <a:t>STEPS 1–3 OF 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138</a:t>
            </a:r>
          </a:p>
        </p:txBody>
      </p:sp>
    </p:spTree>
  </p:cSld>
  <p:clrMapOvr>
    <a:masterClrMapping/>
  </p:clrMapOvr>
  <p:transition spd="fast">
    <p:fade/>
  </p:transition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 · STEP-BY-STEP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Layouts, Viewports and Plotting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10634472" cy="128625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91440" cy="12862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4128" y="2188464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188464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828800"/>
            <a:ext cx="6035040" cy="12862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Create a main viewport and set its scale to 1:20 exactly, then lock 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2087880"/>
            <a:ext cx="3246120" cy="76809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29016" y="2087880"/>
            <a:ext cx="2990088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MV → drag → select → scale 1:20 → lock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334512"/>
            <a:ext cx="10634472" cy="128625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334512"/>
            <a:ext cx="91440" cy="12862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24128" y="369417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369417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334512"/>
            <a:ext cx="6035040" cy="12862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Add a second, smaller viewport for a detail at a larger scale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01000" y="3593592"/>
            <a:ext cx="3246120" cy="76809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29016" y="3593592"/>
            <a:ext cx="2990088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MV → drag → scale 1:5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4840224"/>
            <a:ext cx="10634472" cy="128625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4840224"/>
            <a:ext cx="91440" cy="12862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" y="5199888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4128" y="519988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4840224"/>
            <a:ext cx="6035040" cy="12862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Plot the layout to PDF and check line weights in the output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01000" y="5099304"/>
            <a:ext cx="3246120" cy="76809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29016" y="5099304"/>
            <a:ext cx="2990088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PLOT → DWG To PDF.pc3 → OK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162763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5B6372"/>
                </a:solidFill>
                <a:latin typeface="Arial"/>
              </a:rPr>
              <a:t>STEPS 4–6 OF 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139</a:t>
            </a:r>
          </a:p>
        </p:txBody>
      </p:sp>
    </p:spTree>
  </p:cSld>
  <p:clrMapOvr>
    <a:masterClrMapping/>
  </p:clrMapOvr>
  <p:transition spd="fast">
    <p:fade/>
  </p:transition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Layouts, Viewports and Plotting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Check your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Both viewports report their exact scales in the status bar and cannot be zoomed when locked, and the plotted PDF shows the complete titled sheet at A3.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140</a:t>
            </a:r>
          </a:p>
        </p:txBody>
      </p:sp>
    </p:spTree>
  </p:cSld>
  <p:clrMapOvr>
    <a:masterClrMapping/>
  </p:clrMapOvr>
  <p:transition spd="fast">
    <p:fade/>
  </p:transition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Design Documentation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Lab 13 — Text and Text Styles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An annotated drawing with consistent TITLE and NOTES text styles and a completed title block.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Lab 14 — Dimensions, Multileaders and Part-List Tables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fully dimensioned EX-8 sheet with leader notes and a parts table (part no · description · qty).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Lab 15 — Hatching and Detail Finishing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section view with correct ANSI/ISO hatch patterns and a presentation-filled elevation.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Lab 16 — Layouts, Viewports and Plotting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print-ready A3 layout with title block, two locked scaled viewports and a plotted PDF.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141</a:t>
            </a:r>
          </a:p>
        </p:txBody>
      </p:sp>
    </p:spTree>
  </p:cSld>
  <p:clrMapOvr>
    <a:masterClrMapping/>
  </p:clrMapOvr>
  <p:transition spd="fast">
    <p:fade/>
  </p:transition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Course Summary &amp;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142</a:t>
            </a:r>
          </a:p>
        </p:txBody>
      </p:sp>
    </p:spTree>
  </p:cSld>
  <p:clrMapOvr>
    <a:masterClrMapping/>
  </p:clrMapOvr>
  <p:transition spd="fast">
    <p:fade/>
  </p:transition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LEARNING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You Achieved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Getting started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Navigated the AutoCAD UI, workspaces, units and precision drafting aids.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Technical drawing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Produced accurate 2D drawings and isometric views from dimensioned sheets.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Modifying objects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Built designs efficiently with move/copy, offset, trim, fillet and arrays.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Organizing objects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Structured drawings with layers, blocks, attributes and external references.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Design documentation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Dimensioned, annotated, tabulated part lists and plotted submission-ready sheets.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143</a:t>
            </a:r>
          </a:p>
        </p:txBody>
      </p:sp>
    </p:spTree>
  </p:cSld>
  <p:clrMapOvr>
    <a:masterClrMapping/>
  </p:clrMapOvr>
  <p:transition spd="fast">
    <p:fade/>
  </p:transition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TEST YOURSELF · EXAMS.TERTIARYINFOTECH.COM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Practice Exam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Sharpen your readiness with the Tertiary Infotech AutoCAD practice exam.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Go to exams.tertiaryinfotech.com → Practice Exams → Autodesk → AutoCAD.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Attempt it under timed conditions and review every explanation.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Revisit any lab whose topic you miss, then re-take the practice exam.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1920240"/>
            <a:ext cx="4754880" cy="4023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5120" y="1920240"/>
            <a:ext cx="475488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503920" y="2468880"/>
            <a:ext cx="1097280" cy="109728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2468880"/>
            <a:ext cx="10972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3749039"/>
            <a:ext cx="4389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161B26"/>
                </a:solidFill>
                <a:latin typeface="Arial"/>
              </a:rPr>
              <a:t>AutoCAD Practice Exam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4297680"/>
            <a:ext cx="43891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exams.tertiaryinfotech.com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Timed questions with explanations,
mapped to the five course topics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144</a:t>
            </a:r>
          </a:p>
        </p:txBody>
      </p:sp>
    </p:spTree>
  </p:cSld>
  <p:clrMapOvr>
    <a:masterClrMapping/>
  </p:clrMapOvr>
  <p:transition spd="fast">
    <p:fade/>
  </p:transition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KEEP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Recommended Next Courses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Architecture Drawing with Revit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WSQ · Tertiary Infotech Academy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Product Design with Fusion 360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WSQ · Tertiary Infotech Academy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AutoCAD Civil 3D for Infrastructure Design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WSQ · Tertiary Infotech Academy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Technical Drawing with AutoCAD Mechanical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WSQ · Tertiary Infotech Academy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Technical Drawing with AutoCAD Electrical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WSQ · Tertiary Infotech Academy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145</a:t>
            </a:r>
          </a:p>
        </p:txBody>
      </p:sp>
    </p:spTree>
  </p:cSld>
  <p:clrMapOvr>
    <a:masterClrMapping/>
  </p:clrMapOvr>
  <p:transition spd="fast">
    <p:fade/>
  </p:transition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WE'RE HERE TO HELP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Support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If you have any enquiries during and after the class, contact us: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Email: enquiry@tertiaryinfotech.com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Tel: +65 6100 0613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Website: www.tertiarycourses.com.sg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146</a:t>
            </a:r>
          </a:p>
        </p:txBody>
      </p:sp>
    </p:spTree>
  </p:cSld>
  <p:clrMapOvr>
    <a:masterClrMapping/>
  </p:clrMapOvr>
  <p:transition spd="fast">
    <p:fade/>
  </p:transition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BEFORE YOU LEAVE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Cert &amp; TRAQOM Survey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Complete the TRAQOM course-quality survey on the LMS — it is mandatory for WSQ funding.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Your e-certificate is issued on the LMS after you are assessed Competent and the survey is done.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Portal: https://lms-tms.tertiaryinfotech.com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147</a:t>
            </a:r>
          </a:p>
        </p:txBody>
      </p:sp>
    </p:spTree>
  </p:cSld>
  <p:clrMapOvr>
    <a:masterClrMapping/>
  </p:clrMapOvr>
  <p:transition spd="fast">
    <p:fade/>
  </p:transition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Final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Written Assessment (WA) — Short-Answer Questions (SAQ), 1 hour, open book.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Practical Performance (PP) — produce a dimensioned AutoCAD technical drawing, 1.5 hours, open book.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Open book: slides, Learner Guide and approved materials only.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Remember to take the Assessment digital attendance (TRAQOM).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Submit your completed answers and DWG files on the LMS at https://lms-tms.tertiaryinfotech.com.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148</a:t>
            </a:r>
          </a:p>
        </p:txBody>
      </p:sp>
    </p:spTree>
  </p:cSld>
  <p:clrMapOvr>
    <a:masterClrMapping/>
  </p:clrMapOvr>
  <p:transition spd="fast">
    <p:fade/>
  </p:transition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TRAQOM survey — scan the QR code on the LMS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Assessment digital attendance — scan the SSG QR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Sit WA (SAQ) then Practical Performance — open 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Submit your answers and DWG file on the LMS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Sign the Assessment Summary 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149</a:t>
            </a:r>
          </a:p>
        </p:txBody>
      </p:sp>
    </p:spTree>
  </p:cSld>
  <p:clrMapOvr>
    <a:masterClrMapping/>
  </p:clrMapOvr>
  <p:transition spd="fast">
    <p:fade/>
  </p:transition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It is mandatory to take the AM, PM and Assessment digital attendance for WSQ-funded courses.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The trainer/administrator displays the digital attendance QR code from the SSG portal.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Scan the QR code with your mobile phone camera and submit your attendance.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 minimum of 75% attendance is required to be eligible for assessment and funding.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150</a:t>
            </a:r>
          </a:p>
        </p:txBody>
      </p:sp>
    </p:spTree>
  </p:cSld>
  <p:clrMapOvr>
    <a:masterClrMapping/>
  </p:clrMapOvr>
  <p:transition spd="fast">
    <p:fade/>
  </p:transition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HAPPY DRAFTING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You are now ready to read, produce and document technical drawings with AutoCAD.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WSQ Technical Drawing with AutoCAD  ·  TGS-2021005538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151</a:t>
            </a:r>
          </a:p>
        </p:txBody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